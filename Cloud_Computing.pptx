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comments/modernComment_123_86166706.xml" ContentType="application/vnd.ms-powerpoint.comments+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32.xml" ContentType="application/vnd.openxmlformats-officedocument.presentationml.tags+xml"/>
  <Override PartName="/ppt/notesSlides/notesSlide34.xml" ContentType="application/vnd.openxmlformats-officedocument.presentationml.notesSlide+xml"/>
  <Override PartName="/ppt/tags/tag33.xml" ContentType="application/vnd.openxmlformats-officedocument.presentationml.tags+xml"/>
  <Override PartName="/ppt/notesSlides/notesSlide35.xml" ContentType="application/vnd.openxmlformats-officedocument.presentationml.notesSlide+xml"/>
  <Override PartName="/ppt/tags/tag34.xml" ContentType="application/vnd.openxmlformats-officedocument.presentationml.tags+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89" r:id="rId2"/>
    <p:sldId id="380" r:id="rId3"/>
    <p:sldId id="339" r:id="rId4"/>
    <p:sldId id="290" r:id="rId5"/>
    <p:sldId id="395" r:id="rId6"/>
    <p:sldId id="291" r:id="rId7"/>
    <p:sldId id="292" r:id="rId8"/>
    <p:sldId id="293" r:id="rId9"/>
    <p:sldId id="578" r:id="rId10"/>
    <p:sldId id="573" r:id="rId11"/>
    <p:sldId id="349" r:id="rId12"/>
    <p:sldId id="574" r:id="rId13"/>
    <p:sldId id="546" r:id="rId14"/>
    <p:sldId id="577" r:id="rId15"/>
    <p:sldId id="549" r:id="rId16"/>
    <p:sldId id="550" r:id="rId17"/>
    <p:sldId id="551" r:id="rId18"/>
    <p:sldId id="552" r:id="rId19"/>
    <p:sldId id="553" r:id="rId20"/>
    <p:sldId id="554" r:id="rId21"/>
    <p:sldId id="555" r:id="rId22"/>
    <p:sldId id="547" r:id="rId23"/>
    <p:sldId id="548" r:id="rId24"/>
    <p:sldId id="558" r:id="rId25"/>
    <p:sldId id="576" r:id="rId26"/>
    <p:sldId id="560" r:id="rId27"/>
    <p:sldId id="562" r:id="rId28"/>
    <p:sldId id="561" r:id="rId29"/>
    <p:sldId id="563" r:id="rId30"/>
    <p:sldId id="564" r:id="rId31"/>
    <p:sldId id="565" r:id="rId32"/>
    <p:sldId id="566" r:id="rId33"/>
    <p:sldId id="570" r:id="rId34"/>
    <p:sldId id="571" r:id="rId35"/>
    <p:sldId id="392" r:id="rId36"/>
    <p:sldId id="542" r:id="rId37"/>
    <p:sldId id="575" r:id="rId38"/>
    <p:sldId id="537" r:id="rId39"/>
    <p:sldId id="545" r:id="rId40"/>
  </p:sldIdLst>
  <p:sldSz cx="12192000" cy="6858000"/>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273068-35B4-62C0-E681-6C10F3FB8F40}" name="Mirza Rayyan" initials="MR" userId="674f69d885985e8a"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cmAuthor id="2" name="Brannon, Brooke" initials="BB" lastIdx="25" clrIdx="1">
    <p:extLst>
      <p:ext uri="{19B8F6BF-5375-455C-9EA6-DF929625EA0E}">
        <p15:presenceInfo xmlns:p15="http://schemas.microsoft.com/office/powerpoint/2012/main" userId="S-1-5-21-1407069837-2091007605-538272213-28211697" providerId="AD"/>
      </p:ext>
    </p:extLst>
  </p:cmAuthor>
  <p:cmAuthor id="3" name="Microsoft Office User" initials="MOU" lastIdx="3"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A00"/>
    <a:srgbClr val="A3CDF7"/>
    <a:srgbClr val="A4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809" autoAdjust="0"/>
    <p:restoredTop sz="94343" autoAdjust="0"/>
  </p:normalViewPr>
  <p:slideViewPr>
    <p:cSldViewPr snapToGrid="0" snapToObjects="1">
      <p:cViewPr varScale="1">
        <p:scale>
          <a:sx n="82" d="100"/>
          <a:sy n="82" d="100"/>
        </p:scale>
        <p:origin x="221" y="72"/>
      </p:cViewPr>
      <p:guideLst/>
    </p:cSldViewPr>
  </p:slideViewPr>
  <p:notesTextViewPr>
    <p:cViewPr>
      <p:scale>
        <a:sx n="3" d="2"/>
        <a:sy n="3" d="2"/>
      </p:scale>
      <p:origin x="0" y="0"/>
    </p:cViewPr>
  </p:notesTextViewPr>
  <p:notesViewPr>
    <p:cSldViewPr snapToGrid="0" snapToObjects="1">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23_86166706.xml><?xml version="1.0" encoding="utf-8"?>
<p188:cmLst xmlns:a="http://schemas.openxmlformats.org/drawingml/2006/main" xmlns:r="http://schemas.openxmlformats.org/officeDocument/2006/relationships" xmlns:p188="http://schemas.microsoft.com/office/powerpoint/2018/8/main">
  <p188:cm id="{9FF48D06-EDFA-4667-BE3C-82B52F5366F9}" authorId="{B4273068-35B4-62C0-E681-6C10F3FB8F40}" created="2025-05-12T07:29:40.048">
    <pc:sldMkLst xmlns:pc="http://schemas.microsoft.com/office/powerpoint/2013/main/command">
      <pc:docMk/>
      <pc:sldMk cId="2249615110" sldId="291"/>
    </pc:sldMkLst>
    <p188:txBody>
      <a:bodyPr/>
      <a:lstStyle/>
      <a:p>
        <a:r>
          <a:rPr lang="en-IN"/>
          <a:t>"Cloud computing is like using electricity from a power grid—you don’t need to build a power plant at home, you just pay for what you use. Similarly, you don’t need to own big computers; cloud lets you use computing as a utility."</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5/12/2025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dirty="0"/>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5/12/2025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92397-0699-5249-96BB-FDA4CA85BF35}" type="slidenum">
              <a:rPr lang="en-US" smtClean="0"/>
              <a:t>‹#›</a:t>
            </a:fld>
            <a:endParaRPr lang="en-US" dirty="0"/>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ws.amazon.com/what-is-cloud-computin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1, Section 1 </a:t>
            </a:r>
            <a:r>
              <a:rPr lang="en-US" sz="1100" dirty="0"/>
              <a:t>– Cloud Concepts Overview.</a:t>
            </a:r>
          </a:p>
        </p:txBody>
      </p:sp>
    </p:spTree>
    <p:extLst>
      <p:ext uri="{BB962C8B-B14F-4D97-AF65-F5344CB8AC3E}">
        <p14:creationId xmlns:p14="http://schemas.microsoft.com/office/powerpoint/2010/main" val="3304076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The goal of this module is to discuss key concepts related to cloud computing and the advantages of cloud computing with Amazon Web Services.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We will:</a:t>
            </a:r>
          </a:p>
          <a:p>
            <a:r>
              <a:rPr lang="en-US" sz="1100" kern="1200" dirty="0">
                <a:solidFill>
                  <a:schemeClr val="tx1"/>
                </a:solidFill>
                <a:effectLst/>
                <a:latin typeface="+mn-lt"/>
                <a:ea typeface="+mn-ea"/>
                <a:cs typeface="+mn-cs"/>
              </a:rPr>
              <a:t>• Define different types of cloud computing to understand internet-based computing and three broad categories of cloud computing.</a:t>
            </a:r>
          </a:p>
          <a:p>
            <a:r>
              <a:rPr lang="en-US" sz="1100" kern="1200" dirty="0">
                <a:solidFill>
                  <a:schemeClr val="tx1"/>
                </a:solidFill>
                <a:effectLst/>
                <a:latin typeface="+mn-lt"/>
                <a:ea typeface="+mn-ea"/>
                <a:cs typeface="+mn-cs"/>
              </a:rPr>
              <a:t>• Describe the six advantages of cloud computing that are helping organizations make the decision to get out of the low-value parts of IT and focus on things that drive business success.</a:t>
            </a:r>
          </a:p>
          <a:p>
            <a:r>
              <a:rPr lang="en-US" sz="1100" kern="1200" dirty="0">
                <a:solidFill>
                  <a:schemeClr val="tx1"/>
                </a:solidFill>
                <a:effectLst/>
                <a:latin typeface="+mn-lt"/>
                <a:ea typeface="+mn-ea"/>
                <a:cs typeface="+mn-cs"/>
              </a:rPr>
              <a:t>• Describe three cloud deployment models to understand alternative models of cloud usage.</a:t>
            </a:r>
          </a:p>
          <a:p>
            <a:r>
              <a:rPr lang="en-US" sz="1100" kern="1200" dirty="0">
                <a:solidFill>
                  <a:schemeClr val="tx1"/>
                </a:solidFill>
                <a:effectLst/>
                <a:latin typeface="+mn-lt"/>
                <a:ea typeface="+mn-ea"/>
                <a:cs typeface="+mn-cs"/>
              </a:rPr>
              <a:t>• Review the AWS Cloud Adoption Framework which helps organizations understand how cloud adoption transforms the way they work.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After this overview, you will have the opportunity to complete a Knowledge Assessment. </a:t>
            </a:r>
          </a:p>
        </p:txBody>
      </p:sp>
    </p:spTree>
    <p:extLst>
      <p:ext uri="{BB962C8B-B14F-4D97-AF65-F5344CB8AC3E}">
        <p14:creationId xmlns:p14="http://schemas.microsoft.com/office/powerpoint/2010/main" val="98970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In part one, we’ll answer the question, “What is cloud computing?”</a:t>
            </a:r>
          </a:p>
        </p:txBody>
      </p:sp>
    </p:spTree>
    <p:extLst>
      <p:ext uri="{BB962C8B-B14F-4D97-AF65-F5344CB8AC3E}">
        <p14:creationId xmlns:p14="http://schemas.microsoft.com/office/powerpoint/2010/main" val="314041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aseline="0" dirty="0">
                <a:latin typeface="+mn-lt"/>
              </a:rPr>
              <a:t>What does cloud computing mean to you? </a:t>
            </a:r>
          </a:p>
          <a:p>
            <a:endParaRPr lang="en-US" sz="1100" baseline="0" dirty="0">
              <a:latin typeface="+mn-lt"/>
            </a:endParaRPr>
          </a:p>
          <a:p>
            <a:r>
              <a:rPr lang="en-US" sz="1100" baseline="0" dirty="0">
                <a:latin typeface="+mn-lt"/>
              </a:rPr>
              <a:t>Take a moment to provide a quick sentence on what you understand cloud computing to be. </a:t>
            </a:r>
          </a:p>
          <a:p>
            <a:endParaRPr lang="en-US" sz="1100" baseline="0" dirty="0">
              <a:latin typeface="+mn-lt"/>
            </a:endParaRPr>
          </a:p>
          <a:p>
            <a:r>
              <a:rPr lang="en-US" sz="1100" baseline="0" dirty="0">
                <a:latin typeface="+mn-lt"/>
              </a:rPr>
              <a:t>Note: There’s no wrong answer.</a:t>
            </a:r>
          </a:p>
        </p:txBody>
      </p:sp>
    </p:spTree>
    <p:extLst>
      <p:ext uri="{BB962C8B-B14F-4D97-AF65-F5344CB8AC3E}">
        <p14:creationId xmlns:p14="http://schemas.microsoft.com/office/powerpoint/2010/main" val="3216822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Cloud computing is the on-demand delivery of compute power, database storage, applications, and other IT resources through a cloud services platform via the internet, with pay-as-you-go pricing.</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most basic way to define what the “cloud” is that it is a computer located somewhere else that is accessed via the Internet and utilized in some way. Web services is also another name for what people call the cloud.</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cloud is comprised of server computers located in large data centers in different locations around the world. When you use a cloud service like Amazon Web Services (AWS), you are utilizing the computers owned by AWS. AWS is a cloud services provider.</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computers contain various technology features and services, like building blocks, that can be used to assemble solutions that help a user meet their business goals and technology requirements. With cloud computing, organizations can consume on-demand computing and storage resources rather than building, operating, and improving infrastructure on their own.</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Visit the link to learn more </a:t>
            </a:r>
          </a:p>
          <a:p>
            <a:r>
              <a:rPr lang="en-US" sz="1100" baseline="0" dirty="0">
                <a:latin typeface="+mn-lt"/>
                <a:hlinkClick r:id="rId3"/>
              </a:rPr>
              <a:t>https://aws.amazon.com/what-is-cloud-computing/</a:t>
            </a:r>
            <a:r>
              <a:rPr lang="en-US" sz="1100" baseline="0" dirty="0">
                <a:latin typeface="+mn-lt"/>
              </a:rPr>
              <a:t>.</a:t>
            </a:r>
          </a:p>
          <a:p>
            <a:endParaRPr lang="en-US" sz="1100" baseline="0" dirty="0">
              <a:latin typeface="+mn-lt"/>
            </a:endParaRPr>
          </a:p>
          <a:p>
            <a:endParaRPr lang="en-US" sz="1100" dirty="0">
              <a:latin typeface="+mn-lt"/>
            </a:endParaRPr>
          </a:p>
        </p:txBody>
      </p:sp>
    </p:spTree>
    <p:extLst>
      <p:ext uri="{BB962C8B-B14F-4D97-AF65-F5344CB8AC3E}">
        <p14:creationId xmlns:p14="http://schemas.microsoft.com/office/powerpoint/2010/main" val="2965133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Cloud computing enables you to stop thinking of your infrastructure as hardware, and instead think of it (and use it) as software. Before cloud computing, you would have to provision capacity based on guessing theoretical maximum peaks. If you didn’t meet your projected maximum peaks, or you exceeded them, you would be paying for expensive resources that would stay idle or have insufficient capacity to meet your needs.</a:t>
            </a:r>
          </a:p>
        </p:txBody>
      </p:sp>
    </p:spTree>
    <p:extLst>
      <p:ext uri="{BB962C8B-B14F-4D97-AF65-F5344CB8AC3E}">
        <p14:creationId xmlns:p14="http://schemas.microsoft.com/office/powerpoint/2010/main" val="3907028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692526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Accessing and using your infrastructure as software offers a number of benefits-flexibility in particular. If your needs change, your software can change much more quickly, easily, and cost-effectively than your hardware.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With a cloud services provider like AWS, you don't have to anticipate your hardware needs ahead of time and then order, install, and set it up at your data center. You also don’t need to undergo a long procurement cycle. With a few clicks, you can provision exactly what you need-and it will be available to you in a few minutes.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That means you can provision and terminate resources as necessary on AWS, instead of paying for hardware when you’re not using it. You can treat resources as temporary and disposable resources, free from the inflexibility and constraints of a fixed and finite IT infrastructure.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By harnessing the power of AWS, you can be more agile and efficient with change management, testing, reliability, and capacity planning.</a:t>
            </a:r>
          </a:p>
        </p:txBody>
      </p:sp>
    </p:spTree>
    <p:extLst>
      <p:ext uri="{BB962C8B-B14F-4D97-AF65-F5344CB8AC3E}">
        <p14:creationId xmlns:p14="http://schemas.microsoft.com/office/powerpoint/2010/main" val="104756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33D42-E6CE-4B69-BD44-23501BF3D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ED2EE-B32C-C79D-2D97-39D99BFBA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DE3DC-D508-B6A6-6177-E3200A8318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In part one, we’ll answer the question, “What is cloud computing?”</a:t>
            </a:r>
          </a:p>
        </p:txBody>
      </p:sp>
    </p:spTree>
    <p:extLst>
      <p:ext uri="{BB962C8B-B14F-4D97-AF65-F5344CB8AC3E}">
        <p14:creationId xmlns:p14="http://schemas.microsoft.com/office/powerpoint/2010/main" val="914678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Cloud services can fall</a:t>
            </a:r>
            <a:r>
              <a:rPr lang="en-US" sz="1100" baseline="0" dirty="0"/>
              <a:t> into one of three primary categories, based mainly around how much control and responsibility you have over how the service is configured.</a:t>
            </a:r>
          </a:p>
          <a:p>
            <a:endParaRPr lang="en-US" sz="1100" baseline="0" dirty="0"/>
          </a:p>
          <a:p>
            <a:r>
              <a:rPr lang="en-US" sz="1200" kern="1200" dirty="0">
                <a:solidFill>
                  <a:schemeClr val="tx1"/>
                </a:solidFill>
                <a:effectLst/>
                <a:latin typeface="+mn-lt"/>
                <a:ea typeface="+mn-ea"/>
                <a:cs typeface="+mn-cs"/>
              </a:rPr>
              <a:t>With IaaS (or Infrastructure as a Service), you manage the server, which can be physical or virtual, as well as the operating system (Windows or Linux). In general, the data center provider has no access to your server.</a:t>
            </a:r>
          </a:p>
          <a:p>
            <a:r>
              <a:rPr lang="en-US" sz="1200" kern="1200" dirty="0">
                <a:solidFill>
                  <a:schemeClr val="tx1"/>
                </a:solidFill>
                <a:effectLst/>
                <a:latin typeface="+mn-lt"/>
                <a:ea typeface="+mn-ea"/>
                <a:cs typeface="+mn-cs"/>
              </a:rPr>
              <a:t>Basic building blocks for cloud IT include: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Networking features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Compute, and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Data storage space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t>
            </a:r>
            <a:r>
              <a:rPr lang="en-US" sz="1200" b="1" kern="1200" dirty="0">
                <a:solidFill>
                  <a:schemeClr val="tx1"/>
                </a:solidFill>
                <a:effectLst/>
                <a:latin typeface="+mn-lt"/>
                <a:ea typeface="+mn-ea"/>
                <a:cs typeface="+mn-cs"/>
              </a:rPr>
              <a:t>PaaS (or Platform as a Service), </a:t>
            </a:r>
            <a:r>
              <a:rPr lang="en-US" sz="1200" kern="1200" dirty="0">
                <a:solidFill>
                  <a:schemeClr val="tx1"/>
                </a:solidFill>
                <a:effectLst/>
                <a:latin typeface="+mn-lt"/>
                <a:ea typeface="+mn-ea"/>
                <a:cs typeface="+mn-cs"/>
              </a:rPr>
              <a:t>someone else manages the underlying hardware and operating systems. This enables you to run applications without managing underlying infrastructure (for example -- patching, updates, maintenance, hardware and operating systems). PaaS also provides a framework for developers that they can build upon to create customized applications.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t>
            </a:r>
            <a:r>
              <a:rPr lang="en-US" sz="1200" b="1" kern="1200" dirty="0">
                <a:solidFill>
                  <a:schemeClr val="tx1"/>
                </a:solidFill>
                <a:effectLst/>
                <a:latin typeface="+mn-lt"/>
                <a:ea typeface="+mn-ea"/>
                <a:cs typeface="+mn-cs"/>
              </a:rPr>
              <a:t>SaaS (or Software as a Service), </a:t>
            </a:r>
            <a:r>
              <a:rPr lang="en-US" sz="1200" kern="1200" dirty="0">
                <a:solidFill>
                  <a:schemeClr val="tx1"/>
                </a:solidFill>
                <a:effectLst/>
                <a:latin typeface="+mn-lt"/>
                <a:ea typeface="+mn-ea"/>
                <a:cs typeface="+mn-cs"/>
              </a:rPr>
              <a:t>you manage your files, while the service provider takes care of all of the data centers, servers, networks, storage, maintenance, patching, etc. All you worry about is the software and how you want to use it. You are provided with a complete product that is run and managed by the service provider. Facebook and Dropbox are examples of SaaS. You manage your Facebook contacts and Dropbox files, and the service providers manage the systems. </a:t>
            </a:r>
          </a:p>
        </p:txBody>
      </p:sp>
    </p:spTree>
    <p:extLst>
      <p:ext uri="{BB962C8B-B14F-4D97-AF65-F5344CB8AC3E}">
        <p14:creationId xmlns:p14="http://schemas.microsoft.com/office/powerpoint/2010/main" val="797942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498287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421763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97271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2159700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3043376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848768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2418013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94997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774305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5560074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198622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AA860-F9CA-9456-6667-0B991E99F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1ECC7-D361-7E97-161C-DF15AD4ED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3C4E1-CF03-A69A-CBDE-30C1C04A60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In part one, we’ll answer the question, “What is cloud computing?”</a:t>
            </a:r>
          </a:p>
        </p:txBody>
      </p:sp>
    </p:spTree>
    <p:extLst>
      <p:ext uri="{BB962C8B-B14F-4D97-AF65-F5344CB8AC3E}">
        <p14:creationId xmlns:p14="http://schemas.microsoft.com/office/powerpoint/2010/main" val="426924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3404306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511050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630759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8462587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194327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2081829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10867101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36072524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2900769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45167" y="4272214"/>
            <a:ext cx="6035843" cy="3600450"/>
          </a:xfrm>
        </p:spPr>
        <p:txBody>
          <a:bodyPr/>
          <a:lstStyle/>
          <a:p>
            <a:r>
              <a:rPr lang="en-US" sz="1100" kern="1200" dirty="0">
                <a:solidFill>
                  <a:schemeClr val="tx1"/>
                </a:solidFill>
                <a:effectLst/>
                <a:latin typeface="+mn-lt"/>
                <a:ea typeface="+mn-ea"/>
                <a:cs typeface="+mn-cs"/>
              </a:rPr>
              <a:t>To summarize:</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With the All-In solution, there is no upfront investment, so you avoid the large capital purchases required for an On-Premises solution. You have immediate access to resources without having to procure, install, and configure cabling, racks, servers, and storage in a physical location with appropriate facilities like cooling and power. Instead, you just click to order and pay for the resources you need, which are available almost immediately.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computing helps you reduce ongoing IT costs in multiple ways. AWS continually lowers prices due to massive economies of scale and continual improvements. Multiple pricing options also help you optimize costs based on your unique workloads. You pay only for what you use on a variable, monthly basis. On-premises solutions typically require upgrades on 1-year, 3-year, or 5-year cycles.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gives you managed IT resources on demand, at a fraction of the cost of traditional infrastructure. This cost savings empowers organizations to shift resources toward innovative new projects that grow their business by focusing on “apps not ops.”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Predicting how customers are going to adopt your new application is complex, making it difficult to estimate your infrastructure capacity needs. Flexible capacity means that your resources are dynamic. You can quickly provision resources as demand goes up and turn off what you don’t need as demand declines.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computing’s speed and agility makes it possible for you to respond to changing market conditions. With AWS, resources can be provisioned as needed. This self-service environment changes how you develop and deploy applications, allowing your team to experiment more quickly and more frequently. The amount of time it takes to get a server procured, delivered, and running limits this in a traditional infrastructure.</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With on-premises, it is hard to deliver great performance to a distributed user base. The initial purchase is large, it’s labor intensive with patches, upgrade cycles and systems administration with fixed capacity. There are long procurement cycles and setup, so companies focus on one geographic region at a time to save costs and time. Without geographical limitations, you can deploy your application in any of the AWS regions around the world with lower latency and at minimal cost. </a:t>
            </a:r>
          </a:p>
        </p:txBody>
      </p:sp>
    </p:spTree>
    <p:extLst>
      <p:ext uri="{BB962C8B-B14F-4D97-AF65-F5344CB8AC3E}">
        <p14:creationId xmlns:p14="http://schemas.microsoft.com/office/powerpoint/2010/main" val="1042061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You can use a cloud computing platform for the following: </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Application Hosting </a:t>
            </a:r>
            <a:r>
              <a:rPr lang="en-US" sz="1100" kern="1200" dirty="0">
                <a:solidFill>
                  <a:schemeClr val="tx1"/>
                </a:solidFill>
                <a:effectLst/>
                <a:latin typeface="+mn-lt"/>
                <a:ea typeface="+mn-ea"/>
                <a:cs typeface="+mn-cs"/>
              </a:rPr>
              <a:t>for an on-demand infrastructure to host internal or SaaS applications.</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Backup and Storage </a:t>
            </a:r>
            <a:r>
              <a:rPr lang="en-US" sz="1100" kern="1200" dirty="0">
                <a:solidFill>
                  <a:schemeClr val="tx1"/>
                </a:solidFill>
                <a:effectLst/>
                <a:latin typeface="+mn-lt"/>
                <a:ea typeface="+mn-ea"/>
                <a:cs typeface="+mn-cs"/>
              </a:rPr>
              <a:t>to store data and build dependable backup solutions.</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Content Delivery </a:t>
            </a:r>
            <a:r>
              <a:rPr lang="en-US" sz="1100" kern="1200" dirty="0">
                <a:solidFill>
                  <a:schemeClr val="tx1"/>
                </a:solidFill>
                <a:effectLst/>
                <a:latin typeface="+mn-lt"/>
                <a:ea typeface="+mn-ea"/>
                <a:cs typeface="+mn-cs"/>
              </a:rPr>
              <a:t>to distribute content worldwide, with high data transfer speeds.</a:t>
            </a:r>
          </a:p>
          <a:p>
            <a:r>
              <a:rPr lang="en-US" sz="1100" kern="1200" dirty="0">
                <a:solidFill>
                  <a:schemeClr val="tx1"/>
                </a:solidFill>
                <a:effectLst/>
                <a:latin typeface="+mn-lt"/>
                <a:ea typeface="+mn-ea"/>
                <a:cs typeface="+mn-cs"/>
              </a:rPr>
              <a:t>• Host static and dynamic </a:t>
            </a:r>
            <a:r>
              <a:rPr lang="en-US" sz="1100" b="1" kern="1200" dirty="0">
                <a:solidFill>
                  <a:schemeClr val="tx1"/>
                </a:solidFill>
                <a:effectLst/>
                <a:latin typeface="+mn-lt"/>
                <a:ea typeface="+mn-ea"/>
                <a:cs typeface="+mn-cs"/>
              </a:rPr>
              <a:t>websites</a:t>
            </a:r>
            <a:r>
              <a:rPr lang="en-US" sz="1100" kern="1200" dirty="0">
                <a:solidFill>
                  <a:schemeClr val="tx1"/>
                </a:solidFill>
                <a:effectLst/>
                <a:latin typeface="+mn-lt"/>
                <a:ea typeface="+mn-ea"/>
                <a:cs typeface="+mn-cs"/>
              </a:rPr>
              <a:t>.</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Enterprise IT </a:t>
            </a:r>
            <a:r>
              <a:rPr lang="en-US" sz="1100" kern="1200" dirty="0">
                <a:solidFill>
                  <a:schemeClr val="tx1"/>
                </a:solidFill>
                <a:effectLst/>
                <a:latin typeface="+mn-lt"/>
                <a:ea typeface="+mn-ea"/>
                <a:cs typeface="+mn-cs"/>
              </a:rPr>
              <a:t>to host internal- or external-facing IT applications in AWS's secure environment.</a:t>
            </a:r>
          </a:p>
          <a:p>
            <a:r>
              <a:rPr lang="en-US" sz="1100" kern="1200" dirty="0">
                <a:solidFill>
                  <a:schemeClr val="tx1"/>
                </a:solidFill>
                <a:effectLst/>
                <a:latin typeface="+mn-lt"/>
                <a:ea typeface="+mn-ea"/>
                <a:cs typeface="+mn-cs"/>
              </a:rPr>
              <a:t>• Use a variety of scalable </a:t>
            </a:r>
            <a:r>
              <a:rPr lang="en-US" sz="1100" b="1" kern="1200" dirty="0">
                <a:solidFill>
                  <a:schemeClr val="tx1"/>
                </a:solidFill>
                <a:effectLst/>
                <a:latin typeface="+mn-lt"/>
                <a:ea typeface="+mn-ea"/>
                <a:cs typeface="+mn-cs"/>
              </a:rPr>
              <a:t>database</a:t>
            </a:r>
            <a:r>
              <a:rPr lang="en-US" sz="1100" kern="1200" dirty="0">
                <a:solidFill>
                  <a:schemeClr val="tx1"/>
                </a:solidFill>
                <a:effectLst/>
                <a:latin typeface="+mn-lt"/>
                <a:ea typeface="+mn-ea"/>
                <a:cs typeface="+mn-cs"/>
              </a:rPr>
              <a:t> solutions, from hosted enterprise database software to non-relational database solutions.</a:t>
            </a:r>
          </a:p>
        </p:txBody>
      </p:sp>
    </p:spTree>
    <p:extLst>
      <p:ext uri="{BB962C8B-B14F-4D97-AF65-F5344CB8AC3E}">
        <p14:creationId xmlns:p14="http://schemas.microsoft.com/office/powerpoint/2010/main" val="626369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A9CC3-D26C-9B0D-4DCB-967860C61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3F463-7BAC-67B4-D060-352500704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2415B-A1E0-98A9-A926-52A73DAB7F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In part one, we’ll answer the question, “What is cloud computing?”</a:t>
            </a:r>
          </a:p>
        </p:txBody>
      </p:sp>
    </p:spTree>
    <p:extLst>
      <p:ext uri="{BB962C8B-B14F-4D97-AF65-F5344CB8AC3E}">
        <p14:creationId xmlns:p14="http://schemas.microsoft.com/office/powerpoint/2010/main" val="3703166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Now let’s review some important cloud terminology. High availability, fault tolerance, scalability, and elasticity are four terms often used when discussing the cloud. These concepts are the fundamental building blocks of AWS and will be referred to throughout the course.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High availability </a:t>
            </a:r>
            <a:r>
              <a:rPr lang="en-US" sz="1100" kern="1200" dirty="0">
                <a:solidFill>
                  <a:schemeClr val="tx1"/>
                </a:solidFill>
                <a:effectLst/>
                <a:latin typeface="+mn-lt"/>
                <a:ea typeface="+mn-ea"/>
                <a:cs typeface="+mn-cs"/>
              </a:rPr>
              <a:t>refers to a resource that is accessible when you attempt to access it. For example, if every time you go to the ATM to make a withdrawal it works as expected the ATM is highly available; however, if you go to use it and there is a sign on the front that says “Out of Order”, it is not highly available.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Fault tolerance </a:t>
            </a:r>
            <a:r>
              <a:rPr lang="en-US" sz="1100" kern="1200" dirty="0">
                <a:solidFill>
                  <a:schemeClr val="tx1"/>
                </a:solidFill>
                <a:effectLst/>
                <a:latin typeface="+mn-lt"/>
                <a:ea typeface="+mn-ea"/>
                <a:cs typeface="+mn-cs"/>
              </a:rPr>
              <a:t>is the ability to withstand a certain amount of failure and still remain functional. It also refers to the ability of a system to be self-healing and return to full capacity despite a failure. It is the ability of a system to fail in some way but still remain functional.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Scalability</a:t>
            </a:r>
            <a:r>
              <a:rPr lang="en-US" sz="1100" kern="1200" dirty="0">
                <a:solidFill>
                  <a:schemeClr val="tx1"/>
                </a:solidFill>
                <a:effectLst/>
                <a:latin typeface="+mn-lt"/>
                <a:ea typeface="+mn-ea"/>
                <a:cs typeface="+mn-cs"/>
              </a:rPr>
              <a:t> is the ability to easily grow in size, capacity, and/or scope when required particularly in response to demand. If something cannot quickly grow in an easy manner it is not scalable.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Elasticity</a:t>
            </a:r>
            <a:r>
              <a:rPr lang="en-US" sz="1100" kern="1200" dirty="0">
                <a:solidFill>
                  <a:schemeClr val="tx1"/>
                </a:solidFill>
                <a:effectLst/>
                <a:latin typeface="+mn-lt"/>
                <a:ea typeface="+mn-ea"/>
                <a:cs typeface="+mn-cs"/>
              </a:rPr>
              <a:t> is the ability to not only grow (or scale) when required, but also to reduce or contract in size as needed. A system that is elastic can scale to grow as needed usually based on demand and contract as demand decreases.</a:t>
            </a:r>
          </a:p>
          <a:p>
            <a:endParaRPr lang="en-US" sz="1100" kern="1200" dirty="0">
              <a:effectLst/>
              <a:ea typeface="+mn-ea"/>
              <a:cs typeface="+mn-cs"/>
            </a:endParaRPr>
          </a:p>
        </p:txBody>
      </p:sp>
    </p:spTree>
    <p:extLst>
      <p:ext uri="{BB962C8B-B14F-4D97-AF65-F5344CB8AC3E}">
        <p14:creationId xmlns:p14="http://schemas.microsoft.com/office/powerpoint/2010/main" val="38258712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In summary, cloud computing is the on-demand delivery of IT resources online with pay-as-you-go pricing. </a:t>
            </a:r>
          </a:p>
          <a:p>
            <a:r>
              <a:rPr lang="en-US" sz="1100" kern="1200" dirty="0">
                <a:solidFill>
                  <a:schemeClr val="tx1"/>
                </a:solidFill>
                <a:effectLst/>
                <a:latin typeface="+mn-lt"/>
                <a:ea typeface="+mn-ea"/>
                <a:cs typeface="+mn-cs"/>
              </a:rPr>
              <a:t>The three models of cloud computing are:</a:t>
            </a:r>
          </a:p>
          <a:p>
            <a:r>
              <a:rPr lang="en-US" sz="1100" kern="1200" dirty="0">
                <a:solidFill>
                  <a:schemeClr val="tx1"/>
                </a:solidFill>
                <a:effectLst/>
                <a:latin typeface="+mn-lt"/>
                <a:ea typeface="+mn-ea"/>
                <a:cs typeface="+mn-cs"/>
              </a:rPr>
              <a:t>Infrastructure as a Service (IaaS)</a:t>
            </a:r>
          </a:p>
          <a:p>
            <a:r>
              <a:rPr lang="en-US" sz="1100" kern="1200" dirty="0">
                <a:solidFill>
                  <a:schemeClr val="tx1"/>
                </a:solidFill>
                <a:effectLst/>
                <a:latin typeface="+mn-lt"/>
                <a:ea typeface="+mn-ea"/>
                <a:cs typeface="+mn-cs"/>
              </a:rPr>
              <a:t>Platform as a Service (PaaS), and </a:t>
            </a:r>
          </a:p>
          <a:p>
            <a:r>
              <a:rPr lang="en-US" sz="1100" kern="1200" dirty="0">
                <a:solidFill>
                  <a:schemeClr val="tx1"/>
                </a:solidFill>
                <a:effectLst/>
                <a:latin typeface="+mn-lt"/>
                <a:ea typeface="+mn-ea"/>
                <a:cs typeface="+mn-cs"/>
              </a:rPr>
              <a:t>Software as a Service (SaaS)</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hybrid, and private cloud, are three cloud deployment models.</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Cloud services are available to replace traditional on-premises computing activities.</a:t>
            </a:r>
          </a:p>
        </p:txBody>
      </p:sp>
    </p:spTree>
    <p:extLst>
      <p:ext uri="{BB962C8B-B14F-4D97-AF65-F5344CB8AC3E}">
        <p14:creationId xmlns:p14="http://schemas.microsoft.com/office/powerpoint/2010/main" val="11428102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w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wmf"/><Relationship Id="rId4"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w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817" cy="6858000"/>
          </a:xfrm>
          <a:prstGeom prst="rect">
            <a:avLst/>
          </a:prstGeom>
        </p:spPr>
      </p:pic>
      <p:sp>
        <p:nvSpPr>
          <p:cNvPr id="2" name="Title 1"/>
          <p:cNvSpPr>
            <a:spLocks noGrp="1"/>
          </p:cNvSpPr>
          <p:nvPr>
            <p:ph type="ctrTitle"/>
          </p:nvPr>
        </p:nvSpPr>
        <p:spPr>
          <a:xfrm>
            <a:off x="5436732" y="2688719"/>
            <a:ext cx="6609493" cy="834496"/>
          </a:xfrm>
        </p:spPr>
        <p:txBody>
          <a:bodyPr anchor="b">
            <a:noAutofit/>
          </a:bodyPr>
          <a:lstStyle>
            <a:lvl1pPr algn="l">
              <a:defRPr sz="4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Subtitle 2"/>
          <p:cNvSpPr>
            <a:spLocks noGrp="1"/>
          </p:cNvSpPr>
          <p:nvPr>
            <p:ph type="subTitle" idx="1"/>
          </p:nvPr>
        </p:nvSpPr>
        <p:spPr>
          <a:xfrm>
            <a:off x="5436733" y="3523215"/>
            <a:ext cx="6056582" cy="418570"/>
          </a:xfrm>
        </p:spPr>
        <p:txBody>
          <a:bodyPr>
            <a:normAutofit/>
          </a:bodyPr>
          <a:lstStyle>
            <a:lvl1pPr marL="0" indent="0" algn="l">
              <a:buNone/>
              <a:defRPr sz="2000" b="0" i="0">
                <a:solidFill>
                  <a:schemeClr val="bg1"/>
                </a:solidFill>
                <a:latin typeface="Amazon Ember Light" charset="0"/>
                <a:ea typeface="Amazon Ember Light" charset="0"/>
                <a:cs typeface="Amazon Ember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aphicFrame>
        <p:nvGraphicFramePr>
          <p:cNvPr id="12" name="Object 11">
            <a:extLst>
              <a:ext uri="{FF2B5EF4-FFF2-40B4-BE49-F238E27FC236}">
                <a16:creationId xmlns:a16="http://schemas.microsoft.com/office/drawing/2014/main" id="{80DEBD7B-5FA9-4992-A601-EB72CF549893}"/>
              </a:ext>
            </a:extLst>
          </p:cNvPr>
          <p:cNvGraphicFramePr>
            <a:graphicFrameLocks noChangeAspect="1"/>
          </p:cNvGraphicFramePr>
          <p:nvPr userDrawn="1">
            <p:extLst>
              <p:ext uri="{D42A27DB-BD31-4B8C-83A1-F6EECF244321}">
                <p14:modId xmlns:p14="http://schemas.microsoft.com/office/powerpoint/2010/main" val="1557464044"/>
              </p:ext>
            </p:extLst>
          </p:nvPr>
        </p:nvGraphicFramePr>
        <p:xfrm>
          <a:off x="12185650" y="25400"/>
          <a:ext cx="9525" cy="6858000"/>
        </p:xfrm>
        <a:graphic>
          <a:graphicData uri="http://schemas.openxmlformats.org/presentationml/2006/ole">
            <mc:AlternateContent xmlns:mc="http://schemas.openxmlformats.org/markup-compatibility/2006">
              <mc:Choice xmlns:v="urn:schemas-microsoft-com:vml" Requires="v">
                <p:oleObj name="Image" r:id="rId3" imgW="12600" imgH="9142560" progId="Photoshop.Image.17">
                  <p:embed/>
                </p:oleObj>
              </mc:Choice>
              <mc:Fallback>
                <p:oleObj name="Image" r:id="rId3" imgW="12600" imgH="9142560" progId="Photoshop.Image.17">
                  <p:embed/>
                  <p:pic>
                    <p:nvPicPr>
                      <p:cNvPr id="0" name=""/>
                      <p:cNvPicPr/>
                      <p:nvPr/>
                    </p:nvPicPr>
                    <p:blipFill>
                      <a:blip r:embed="rId4"/>
                      <a:stretch>
                        <a:fillRect/>
                      </a:stretch>
                    </p:blipFill>
                    <p:spPr>
                      <a:xfrm>
                        <a:off x="12185650" y="25400"/>
                        <a:ext cx="9525" cy="68580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120EA26-A6C6-4FDA-A6D6-DC0B8AAABE75}"/>
              </a:ext>
            </a:extLst>
          </p:cNvPr>
          <p:cNvGraphicFramePr>
            <a:graphicFrameLocks noChangeAspect="1"/>
          </p:cNvGraphicFramePr>
          <p:nvPr userDrawn="1">
            <p:extLst>
              <p:ext uri="{D42A27DB-BD31-4B8C-83A1-F6EECF244321}">
                <p14:modId xmlns:p14="http://schemas.microsoft.com/office/powerpoint/2010/main" val="2681500795"/>
              </p:ext>
            </p:extLst>
          </p:nvPr>
        </p:nvGraphicFramePr>
        <p:xfrm>
          <a:off x="12186206" y="0"/>
          <a:ext cx="9525" cy="6858000"/>
        </p:xfrm>
        <a:graphic>
          <a:graphicData uri="http://schemas.openxmlformats.org/presentationml/2006/ole">
            <mc:AlternateContent xmlns:mc="http://schemas.openxmlformats.org/markup-compatibility/2006">
              <mc:Choice xmlns:v="urn:schemas-microsoft-com:vml" Requires="v">
                <p:oleObj name="Image" r:id="rId3" imgW="12600" imgH="9142560" progId="Photoshop.Image.17">
                  <p:embed/>
                </p:oleObj>
              </mc:Choice>
              <mc:Fallback>
                <p:oleObj name="Image" r:id="rId3" imgW="12600" imgH="9142560" progId="Photoshop.Image.17">
                  <p:embed/>
                  <p:pic>
                    <p:nvPicPr>
                      <p:cNvPr id="0" name=""/>
                      <p:cNvPicPr/>
                      <p:nvPr/>
                    </p:nvPicPr>
                    <p:blipFill>
                      <a:blip r:embed="rId4"/>
                      <a:stretch>
                        <a:fillRect/>
                      </a:stretch>
                    </p:blipFill>
                    <p:spPr>
                      <a:xfrm>
                        <a:off x="12186206" y="0"/>
                        <a:ext cx="9525" cy="6858000"/>
                      </a:xfrm>
                      <a:prstGeom prst="rect">
                        <a:avLst/>
                      </a:prstGeom>
                    </p:spPr>
                  </p:pic>
                </p:oleObj>
              </mc:Fallback>
            </mc:AlternateContent>
          </a:graphicData>
        </a:graphic>
      </p:graphicFrame>
    </p:spTree>
    <p:extLst>
      <p:ext uri="{BB962C8B-B14F-4D97-AF65-F5344CB8AC3E}">
        <p14:creationId xmlns:p14="http://schemas.microsoft.com/office/powerpoint/2010/main" val="46727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9524"/>
          </a:xfrm>
          <a:prstGeom prst="rect">
            <a:avLst/>
          </a:prstGeom>
        </p:spPr>
      </p:pic>
      <p:sp>
        <p:nvSpPr>
          <p:cNvPr id="2" name="Title 1"/>
          <p:cNvSpPr>
            <a:spLocks noGrp="1"/>
          </p:cNvSpPr>
          <p:nvPr>
            <p:ph type="title"/>
          </p:nvPr>
        </p:nvSpPr>
        <p:spPr>
          <a:xfrm>
            <a:off x="238538" y="263527"/>
            <a:ext cx="9334953"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p:ph idx="1"/>
          </p:nvPr>
        </p:nvSpPr>
        <p:spPr>
          <a:xfrm>
            <a:off x="238538" y="1243016"/>
            <a:ext cx="10515600" cy="4913308"/>
          </a:xfrm>
        </p:spPr>
        <p:txBody>
          <a:bodyPr/>
          <a:lstStyle>
            <a:lvl1pPr marL="228600" indent="-228600">
              <a:buFontTx/>
              <a:buBlip>
                <a:blip r:embed="rId3"/>
              </a:buBlip>
              <a:defRPr b="0" i="0">
                <a:solidFill>
                  <a:schemeClr val="bg1"/>
                </a:solidFill>
                <a:latin typeface="Amazon Ember Light" charset="0"/>
                <a:ea typeface="Amazon Ember Light" charset="0"/>
                <a:cs typeface="Amazon Ember Light" charset="0"/>
              </a:defRPr>
            </a:lvl1pPr>
            <a:lvl2pPr marL="685800" indent="-228600">
              <a:buFontTx/>
              <a:buBlip>
                <a:blip r:embed="rId3"/>
              </a:buBlip>
              <a:defRPr b="0" i="0">
                <a:solidFill>
                  <a:schemeClr val="bg1"/>
                </a:solidFill>
                <a:latin typeface="Amazon Ember Light" charset="0"/>
                <a:ea typeface="Amazon Ember Light" charset="0"/>
                <a:cs typeface="Amazon Ember Light" charset="0"/>
              </a:defRPr>
            </a:lvl2pPr>
            <a:lvl3pPr marL="1143000" indent="-228600">
              <a:buFontTx/>
              <a:buBlip>
                <a:blip r:embed="rId3"/>
              </a:buBlip>
              <a:defRPr b="0" i="0">
                <a:solidFill>
                  <a:schemeClr val="bg1"/>
                </a:solidFill>
                <a:latin typeface="Amazon Ember Light" charset="0"/>
                <a:ea typeface="Amazon Ember Light" charset="0"/>
                <a:cs typeface="Amazon Ember Light" charset="0"/>
              </a:defRPr>
            </a:lvl3pPr>
            <a:lvl4pPr marL="1600200" indent="-228600">
              <a:buFontTx/>
              <a:buBlip>
                <a:blip r:embed="rId3"/>
              </a:buBlip>
              <a:defRPr b="0" i="0">
                <a:solidFill>
                  <a:schemeClr val="bg1"/>
                </a:solidFill>
                <a:latin typeface="Amazon Ember Light" charset="0"/>
                <a:ea typeface="Amazon Ember Light" charset="0"/>
                <a:cs typeface="Amazon Ember Light" charset="0"/>
              </a:defRPr>
            </a:lvl4pPr>
            <a:lvl5pPr marL="2057400" indent="-228600">
              <a:buFontTx/>
              <a:buBlip>
                <a:blip r:embed="rId3"/>
              </a:buBlip>
              <a:defRPr b="0" i="0">
                <a:solidFill>
                  <a:schemeClr val="bg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
        <p:nvSpPr>
          <p:cNvPr id="7" name="TextBox 6"/>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extLst>
      <p:ext uri="{BB962C8B-B14F-4D97-AF65-F5344CB8AC3E}">
        <p14:creationId xmlns:p14="http://schemas.microsoft.com/office/powerpoint/2010/main" val="2139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9524"/>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6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3268" cy="6860237"/>
          </a:xfrm>
          <a:prstGeom prst="rect">
            <a:avLst/>
          </a:prstGeom>
        </p:spPr>
      </p:pic>
      <p:sp>
        <p:nvSpPr>
          <p:cNvPr id="2" name="Title 1"/>
          <p:cNvSpPr>
            <a:spLocks noGrp="1"/>
          </p:cNvSpPr>
          <p:nvPr userDrawn="1">
            <p:ph type="title"/>
          </p:nvPr>
        </p:nvSpPr>
        <p:spPr>
          <a:xfrm>
            <a:off x="238539" y="263527"/>
            <a:ext cx="9321097"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10515600" cy="4913308"/>
          </a:xfrm>
        </p:spPr>
        <p:txBody>
          <a:bodyPr/>
          <a:lstStyle>
            <a:lvl1pPr marL="228600" indent="-228600">
              <a:buFontTx/>
              <a:buBlip>
                <a:blip r:embed="rId3"/>
              </a:buBlip>
              <a:defRPr b="0" i="0">
                <a:solidFill>
                  <a:schemeClr val="tx1"/>
                </a:solidFill>
                <a:latin typeface="Amazon Ember Light" charset="0"/>
                <a:ea typeface="Amazon Ember Light" charset="0"/>
                <a:cs typeface="Amazon Ember Light" charset="0"/>
              </a:defRPr>
            </a:lvl1pPr>
            <a:lvl2pPr marL="685800" indent="-228600">
              <a:buFontTx/>
              <a:buBlip>
                <a:blip r:embed="rId3"/>
              </a:buBlip>
              <a:defRPr b="0" i="0">
                <a:solidFill>
                  <a:schemeClr val="tx1"/>
                </a:solidFill>
                <a:latin typeface="Amazon Ember Light" charset="0"/>
                <a:ea typeface="Amazon Ember Light" charset="0"/>
                <a:cs typeface="Amazon Ember Light" charset="0"/>
              </a:defRPr>
            </a:lvl2pPr>
            <a:lvl3pPr marL="1143000" indent="-228600">
              <a:buFontTx/>
              <a:buBlip>
                <a:blip r:embed="rId3"/>
              </a:buBlip>
              <a:defRPr b="0" i="0">
                <a:solidFill>
                  <a:schemeClr val="tx1"/>
                </a:solidFill>
                <a:latin typeface="Amazon Ember Light" charset="0"/>
                <a:ea typeface="Amazon Ember Light" charset="0"/>
                <a:cs typeface="Amazon Ember Light" charset="0"/>
              </a:defRPr>
            </a:lvl3pPr>
            <a:lvl4pPr marL="1600200" indent="-228600">
              <a:buFontTx/>
              <a:buBlip>
                <a:blip r:embed="rId3"/>
              </a:buBlip>
              <a:defRPr b="0" i="0">
                <a:solidFill>
                  <a:schemeClr val="tx1"/>
                </a:solidFill>
                <a:latin typeface="Amazon Ember Light" charset="0"/>
                <a:ea typeface="Amazon Ember Light" charset="0"/>
                <a:cs typeface="Amazon Ember Light" charset="0"/>
              </a:defRPr>
            </a:lvl4pPr>
            <a:lvl5pPr marL="2057400" indent="-228600">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extLst>
              <p:ext uri="{D42A27DB-BD31-4B8C-83A1-F6EECF244321}">
                <p14:modId xmlns:p14="http://schemas.microsoft.com/office/powerpoint/2010/main" val="1976709438"/>
              </p:ext>
            </p:extLst>
          </p:nvPr>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name="Image" r:id="rId4" imgW="12600" imgH="9142560" progId="Photoshop.Image.17">
                  <p:embed/>
                </p:oleObj>
              </mc:Choice>
              <mc:Fallback>
                <p:oleObj name="Image" r:id="rId4" imgW="12600" imgH="9142560" progId="Photoshop.Image.17">
                  <p:embed/>
                  <p:pic>
                    <p:nvPicPr>
                      <p:cNvPr id="0" name=""/>
                      <p:cNvPicPr/>
                      <p:nvPr/>
                    </p:nvPicPr>
                    <p:blipFill>
                      <a:blip r:embed="rId5"/>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3268" cy="6860237"/>
          </a:xfrm>
          <a:prstGeom prst="rect">
            <a:avLst/>
          </a:prstGeom>
        </p:spPr>
      </p:pic>
      <p:sp>
        <p:nvSpPr>
          <p:cNvPr id="2" name="Title 1"/>
          <p:cNvSpPr>
            <a:spLocks noGrp="1"/>
          </p:cNvSpPr>
          <p:nvPr userDrawn="1">
            <p:ph type="title"/>
          </p:nvPr>
        </p:nvSpPr>
        <p:spPr>
          <a:xfrm>
            <a:off x="238539" y="263527"/>
            <a:ext cx="93626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5075583" cy="4913308"/>
          </a:xfrm>
        </p:spPr>
        <p:txBody>
          <a:bodyPr/>
          <a:lstStyle>
            <a:lvl1pPr marL="228600" indent="-228600">
              <a:buFontTx/>
              <a:buBlip>
                <a:blip r:embed="rId3"/>
              </a:buBlip>
              <a:defRPr b="0" i="0">
                <a:solidFill>
                  <a:schemeClr val="tx1"/>
                </a:solidFill>
                <a:latin typeface="Amazon Ember Light" charset="0"/>
                <a:ea typeface="Amazon Ember Light" charset="0"/>
                <a:cs typeface="Amazon Ember Light" charset="0"/>
              </a:defRPr>
            </a:lvl1pPr>
            <a:lvl2pPr marL="685800" indent="-228600">
              <a:buFontTx/>
              <a:buBlip>
                <a:blip r:embed="rId3"/>
              </a:buBlip>
              <a:defRPr b="0" i="0">
                <a:solidFill>
                  <a:schemeClr val="tx1"/>
                </a:solidFill>
                <a:latin typeface="Amazon Ember Light" charset="0"/>
                <a:ea typeface="Amazon Ember Light" charset="0"/>
                <a:cs typeface="Amazon Ember Light" charset="0"/>
              </a:defRPr>
            </a:lvl2pPr>
            <a:lvl3pPr marL="1143000" indent="-228600">
              <a:buFontTx/>
              <a:buBlip>
                <a:blip r:embed="rId3"/>
              </a:buBlip>
              <a:defRPr b="0" i="0">
                <a:solidFill>
                  <a:schemeClr val="tx1"/>
                </a:solidFill>
                <a:latin typeface="Amazon Ember Light" charset="0"/>
                <a:ea typeface="Amazon Ember Light" charset="0"/>
                <a:cs typeface="Amazon Ember Light" charset="0"/>
              </a:defRPr>
            </a:lvl3pPr>
            <a:lvl4pPr marL="1600200" indent="-228600">
              <a:buFontTx/>
              <a:buBlip>
                <a:blip r:embed="rId3"/>
              </a:buBlip>
              <a:defRPr b="0" i="0">
                <a:solidFill>
                  <a:schemeClr val="tx1"/>
                </a:solidFill>
                <a:latin typeface="Amazon Ember Light" charset="0"/>
                <a:ea typeface="Amazon Ember Light" charset="0"/>
                <a:cs typeface="Amazon Ember Light" charset="0"/>
              </a:defRPr>
            </a:lvl4pPr>
            <a:lvl5pPr marL="2057400" indent="-228600">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name="Image" r:id="rId4" imgW="12600" imgH="9142560" progId="Photoshop.Image.17">
                  <p:embed/>
                </p:oleObj>
              </mc:Choice>
              <mc:Fallback>
                <p:oleObj name="Image" r:id="rId4" imgW="12600" imgH="9142560" progId="Photoshop.Image.17">
                  <p:embed/>
                  <p:pic>
                    <p:nvPicPr>
                      <p:cNvPr id="0" name=""/>
                      <p:cNvPicPr/>
                      <p:nvPr/>
                    </p:nvPicPr>
                    <p:blipFill>
                      <a:blip r:embed="rId5"/>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2"/>
          <p:cNvSpPr>
            <a:spLocks noGrp="1"/>
          </p:cNvSpPr>
          <p:nvPr>
            <p:ph idx="13"/>
          </p:nvPr>
        </p:nvSpPr>
        <p:spPr>
          <a:xfrm>
            <a:off x="5796169" y="1440305"/>
            <a:ext cx="5075583" cy="4913308"/>
          </a:xfrm>
        </p:spPr>
        <p:txBody>
          <a:bodyPr/>
          <a:lstStyle>
            <a:lvl1pPr marL="228600" indent="-228600">
              <a:buFontTx/>
              <a:buBlip>
                <a:blip r:embed="rId3"/>
              </a:buBlip>
              <a:defRPr b="0" i="0">
                <a:solidFill>
                  <a:schemeClr val="tx1"/>
                </a:solidFill>
                <a:latin typeface="Amazon Ember Light" charset="0"/>
                <a:ea typeface="Amazon Ember Light" charset="0"/>
                <a:cs typeface="Amazon Ember Light" charset="0"/>
              </a:defRPr>
            </a:lvl1pPr>
            <a:lvl2pPr marL="685800" indent="-228600">
              <a:buFontTx/>
              <a:buBlip>
                <a:blip r:embed="rId3"/>
              </a:buBlip>
              <a:defRPr b="0" i="0">
                <a:solidFill>
                  <a:schemeClr val="tx1"/>
                </a:solidFill>
                <a:latin typeface="Amazon Ember Light" charset="0"/>
                <a:ea typeface="Amazon Ember Light" charset="0"/>
                <a:cs typeface="Amazon Ember Light" charset="0"/>
              </a:defRPr>
            </a:lvl2pPr>
            <a:lvl3pPr marL="1143000" indent="-228600">
              <a:buFontTx/>
              <a:buBlip>
                <a:blip r:embed="rId3"/>
              </a:buBlip>
              <a:defRPr b="0" i="0">
                <a:solidFill>
                  <a:schemeClr val="tx1"/>
                </a:solidFill>
                <a:latin typeface="Amazon Ember Light" charset="0"/>
                <a:ea typeface="Amazon Ember Light" charset="0"/>
                <a:cs typeface="Amazon Ember Light" charset="0"/>
              </a:defRPr>
            </a:lvl3pPr>
            <a:lvl4pPr marL="1600200" indent="-228600">
              <a:buFontTx/>
              <a:buBlip>
                <a:blip r:embed="rId3"/>
              </a:buBlip>
              <a:defRPr b="0" i="0">
                <a:solidFill>
                  <a:schemeClr val="tx1"/>
                </a:solidFill>
                <a:latin typeface="Amazon Ember Light" charset="0"/>
                <a:ea typeface="Amazon Ember Light" charset="0"/>
                <a:cs typeface="Amazon Ember Light" charset="0"/>
              </a:defRPr>
            </a:lvl4pPr>
            <a:lvl5pPr marL="2057400" indent="-228600">
              <a:buFontTx/>
              <a:buBlip>
                <a:blip r:embed="rId3"/>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8D881-A1FF-A248-B220-002DCF0CB8A4}" type="datetimeFigureOut">
              <a:rPr lang="en-US" smtClean="0"/>
              <a:t>5/12/2025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43BFD-8FF7-A343-A8A6-E2338FCE8046}" type="slidenum">
              <a:rPr lang="en-US" smtClean="0"/>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2" r:id="rId4"/>
    <p:sldLayoutId id="214748367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0.png"/><Relationship Id="rId5" Type="http://schemas.openxmlformats.org/officeDocument/2006/relationships/image" Target="../media/image9.png"/><Relationship Id="rId4" Type="http://schemas.microsoft.com/office/2018/10/relationships/comments" Target="../comments/modernComment_123_8616670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3.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24.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5.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6.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27.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8.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29.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30.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31.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436732" y="2756453"/>
            <a:ext cx="6609493" cy="1303418"/>
          </a:xfrm>
        </p:spPr>
        <p:txBody>
          <a:bodyPr/>
          <a:lstStyle/>
          <a:p>
            <a:r>
              <a:rPr lang="en-US" sz="5400" dirty="0">
                <a:latin typeface="Amazon Ember Light" charset="0"/>
                <a:ea typeface="Amazon Ember Light" charset="0"/>
                <a:cs typeface="Amazon Ember Light" charset="0"/>
              </a:rPr>
              <a:t>Module 1, Section 1: Cloud Concepts Overview</a:t>
            </a:r>
          </a:p>
        </p:txBody>
      </p:sp>
    </p:spTree>
    <p:custDataLst>
      <p:tags r:id="rId1"/>
    </p:custDataLst>
    <p:extLst>
      <p:ext uri="{BB962C8B-B14F-4D97-AF65-F5344CB8AC3E}">
        <p14:creationId xmlns:p14="http://schemas.microsoft.com/office/powerpoint/2010/main" val="486471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a:xfrm>
            <a:off x="452893" y="2910944"/>
            <a:ext cx="11078308" cy="3296978"/>
          </a:xfrm>
        </p:spPr>
        <p:txBody>
          <a:bodyPr anchor="ctr">
            <a:noAutofit/>
          </a:bodyPr>
          <a:lstStyle/>
          <a:p>
            <a:pPr marL="219075" lvl="1" indent="0" defTabSz="342900">
              <a:lnSpc>
                <a:spcPct val="150000"/>
              </a:lnSpc>
              <a:spcBef>
                <a:spcPts val="0"/>
              </a:spcBef>
              <a:spcAft>
                <a:spcPts val="600"/>
              </a:spcAft>
              <a:buClr>
                <a:schemeClr val="accent1"/>
              </a:buClr>
              <a:buNone/>
              <a:tabLst>
                <a:tab pos="8461375" algn="r"/>
              </a:tabLst>
            </a:pPr>
            <a:r>
              <a:rPr lang="en-US" sz="2800" dirty="0"/>
              <a:t>Discuss key concepts related to cloud computing and the advantages of cloud computing: </a:t>
            </a:r>
          </a:p>
          <a:p>
            <a:pPr marL="682625" lvl="1" indent="-463550" defTabSz="342900">
              <a:lnSpc>
                <a:spcPct val="150000"/>
              </a:lnSpc>
              <a:spcBef>
                <a:spcPts val="0"/>
              </a:spcBef>
              <a:spcAft>
                <a:spcPts val="600"/>
              </a:spcAft>
              <a:buClr>
                <a:schemeClr val="accent1"/>
              </a:buClr>
              <a:tabLst>
                <a:tab pos="8461375" algn="r"/>
              </a:tabLst>
            </a:pPr>
            <a:r>
              <a:rPr lang="en-US" sz="2800" dirty="0"/>
              <a:t>Define different types of cloud computing. </a:t>
            </a:r>
          </a:p>
          <a:p>
            <a:pPr marL="682625" lvl="1" indent="-463550" defTabSz="342900">
              <a:lnSpc>
                <a:spcPct val="150000"/>
              </a:lnSpc>
              <a:spcBef>
                <a:spcPts val="0"/>
              </a:spcBef>
              <a:spcAft>
                <a:spcPts val="600"/>
              </a:spcAft>
              <a:buClr>
                <a:schemeClr val="accent1"/>
              </a:buClr>
              <a:tabLst>
                <a:tab pos="8461375" algn="r"/>
              </a:tabLst>
            </a:pPr>
            <a:r>
              <a:rPr lang="en-US" sz="2800" dirty="0"/>
              <a:t>Describe cloud deployment models.</a:t>
            </a:r>
          </a:p>
          <a:p>
            <a:pPr marL="682625" lvl="1" indent="-463550" defTabSz="342900">
              <a:lnSpc>
                <a:spcPct val="150000"/>
              </a:lnSpc>
              <a:spcBef>
                <a:spcPts val="0"/>
              </a:spcBef>
              <a:spcAft>
                <a:spcPts val="600"/>
              </a:spcAft>
              <a:buClr>
                <a:schemeClr val="accent1"/>
              </a:buClr>
              <a:tabLst>
                <a:tab pos="8461375" algn="r"/>
              </a:tabLst>
            </a:pPr>
            <a:r>
              <a:rPr lang="en-US" sz="2800" dirty="0"/>
              <a:t>Multi-Cloud : uses &amp; problems</a:t>
            </a:r>
          </a:p>
          <a:p>
            <a:pPr marL="682625" lvl="1" indent="-463550" defTabSz="342900">
              <a:lnSpc>
                <a:spcPct val="150000"/>
              </a:lnSpc>
              <a:spcBef>
                <a:spcPts val="0"/>
              </a:spcBef>
              <a:spcAft>
                <a:spcPts val="600"/>
              </a:spcAft>
              <a:buClr>
                <a:schemeClr val="accent1"/>
              </a:buClr>
              <a:tabLst>
                <a:tab pos="8461375" algn="r"/>
              </a:tabLst>
            </a:pPr>
            <a:r>
              <a:rPr lang="en-US" sz="2800" dirty="0"/>
              <a:t>Important Cloud Terminology</a:t>
            </a:r>
          </a:p>
          <a:p>
            <a:pPr marL="219075" lvl="1" indent="0" defTabSz="342900">
              <a:lnSpc>
                <a:spcPct val="150000"/>
              </a:lnSpc>
              <a:spcBef>
                <a:spcPts val="0"/>
              </a:spcBef>
              <a:spcAft>
                <a:spcPts val="600"/>
              </a:spcAft>
              <a:buClr>
                <a:schemeClr val="accent1"/>
              </a:buClr>
              <a:buNone/>
              <a:tabLst>
                <a:tab pos="8461375" algn="r"/>
              </a:tabLst>
            </a:pPr>
            <a:endParaRPr lang="en-US" sz="2800" dirty="0"/>
          </a:p>
          <a:p>
            <a:pPr marL="682625" lvl="1" indent="-463550" defTabSz="342900">
              <a:lnSpc>
                <a:spcPct val="150000"/>
              </a:lnSpc>
              <a:spcBef>
                <a:spcPts val="0"/>
              </a:spcBef>
              <a:spcAft>
                <a:spcPts val="600"/>
              </a:spcAft>
              <a:buClr>
                <a:schemeClr val="accent1"/>
              </a:buClr>
              <a:tabLst>
                <a:tab pos="8461375" algn="r"/>
              </a:tabLst>
            </a:pPr>
            <a:endParaRPr lang="en-US" sz="2800" dirty="0"/>
          </a:p>
          <a:p>
            <a:pPr marL="682625" lvl="1" indent="-463550" defTabSz="342900">
              <a:lnSpc>
                <a:spcPct val="150000"/>
              </a:lnSpc>
              <a:spcBef>
                <a:spcPts val="0"/>
              </a:spcBef>
              <a:spcAft>
                <a:spcPts val="600"/>
              </a:spcAft>
              <a:buClr>
                <a:schemeClr val="accent1"/>
              </a:buClr>
              <a:tabLst>
                <a:tab pos="8461375" algn="r"/>
              </a:tabLst>
            </a:pPr>
            <a:endParaRPr lang="en-US" sz="2800" dirty="0"/>
          </a:p>
        </p:txBody>
      </p:sp>
    </p:spTree>
    <p:extLst>
      <p:ext uri="{BB962C8B-B14F-4D97-AF65-F5344CB8AC3E}">
        <p14:creationId xmlns:p14="http://schemas.microsoft.com/office/powerpoint/2010/main" val="3671376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59" y="2932909"/>
            <a:ext cx="10992957" cy="779463"/>
          </a:xfrm>
        </p:spPr>
        <p:txBody>
          <a:bodyPr>
            <a:noAutofit/>
          </a:bodyPr>
          <a:lstStyle/>
          <a:p>
            <a:r>
              <a:rPr lang="en-US" sz="4800" dirty="0"/>
              <a:t>Part 1: What is Cloud Computing?</a:t>
            </a:r>
          </a:p>
        </p:txBody>
      </p:sp>
    </p:spTree>
    <p:custDataLst>
      <p:tags r:id="rId1"/>
    </p:custDataLst>
    <p:extLst>
      <p:ext uri="{BB962C8B-B14F-4D97-AF65-F5344CB8AC3E}">
        <p14:creationId xmlns:p14="http://schemas.microsoft.com/office/powerpoint/2010/main" val="2923410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Cloud Computing? </a:t>
            </a:r>
          </a:p>
        </p:txBody>
      </p:sp>
      <p:pic>
        <p:nvPicPr>
          <p:cNvPr id="3"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5981" y="2665727"/>
            <a:ext cx="5166820" cy="3443705"/>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3612860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Cloud Computing? </a:t>
            </a:r>
          </a:p>
        </p:txBody>
      </p:sp>
      <p:sp>
        <p:nvSpPr>
          <p:cNvPr id="7" name="Content Placeholder 6"/>
          <p:cNvSpPr>
            <a:spLocks noGrp="1"/>
          </p:cNvSpPr>
          <p:nvPr>
            <p:ph idx="1"/>
          </p:nvPr>
        </p:nvSpPr>
        <p:spPr>
          <a:xfrm>
            <a:off x="625641" y="1440305"/>
            <a:ext cx="10972309" cy="4913308"/>
          </a:xfrm>
        </p:spPr>
        <p:txBody>
          <a:bodyPr/>
          <a:lstStyle/>
          <a:p>
            <a:pPr marL="0" indent="0">
              <a:buNone/>
            </a:pPr>
            <a:r>
              <a:rPr lang="en-US" sz="2667" dirty="0"/>
              <a:t>Cloud computing is the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on-demand</a:t>
            </a:r>
            <a:r>
              <a:rPr lang="en-US" sz="2667" i="1" dirty="0"/>
              <a:t> </a:t>
            </a:r>
            <a:r>
              <a:rPr lang="en-US" sz="2667" dirty="0"/>
              <a:t>delivery of compute power, database storage, applications, and other IT resources through a cloud services platform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via the internet </a:t>
            </a:r>
            <a:r>
              <a:rPr lang="en-US" sz="2667" dirty="0"/>
              <a:t>with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pay-as-you-go</a:t>
            </a:r>
            <a:r>
              <a:rPr lang="en-US" sz="2667" b="1" i="1" dirty="0">
                <a:latin typeface="Amazon Ember" panose="020B0603020204020204" pitchFamily="34" charset="0"/>
                <a:ea typeface="Amazon Ember" panose="020B0603020204020204" pitchFamily="34" charset="0"/>
                <a:cs typeface="Amazon Ember" panose="020B0603020204020204" pitchFamily="34" charset="0"/>
              </a:rPr>
              <a:t> </a:t>
            </a:r>
            <a:r>
              <a:rPr lang="en-US" sz="2667" dirty="0"/>
              <a:t>pricing.</a:t>
            </a:r>
          </a:p>
          <a:p>
            <a:endParaRPr lang="en-US" dirty="0"/>
          </a:p>
        </p:txBody>
      </p:sp>
      <p:pic>
        <p:nvPicPr>
          <p:cNvPr id="3"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5981" y="2805545"/>
            <a:ext cx="4957042" cy="330388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114688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Before Cloud Computing</a:t>
            </a:r>
          </a:p>
        </p:txBody>
      </p:sp>
      <p:sp>
        <p:nvSpPr>
          <p:cNvPr id="7" name="Content Placeholder 6"/>
          <p:cNvSpPr>
            <a:spLocks noGrp="1"/>
          </p:cNvSpPr>
          <p:nvPr>
            <p:ph idx="1"/>
          </p:nvPr>
        </p:nvSpPr>
        <p:spPr>
          <a:xfrm>
            <a:off x="609599" y="1440305"/>
            <a:ext cx="10951029" cy="4913308"/>
          </a:xfrm>
        </p:spPr>
        <p:txBody>
          <a:bodyPr>
            <a:normAutofit/>
          </a:bodyPr>
          <a:lstStyle/>
          <a:p>
            <a:pPr marL="0" indent="0">
              <a:buNone/>
            </a:pPr>
            <a:r>
              <a:rPr lang="en-US" sz="2667" dirty="0"/>
              <a:t>Cloud computing enables you to </a:t>
            </a:r>
            <a:r>
              <a:rPr lang="en-US" sz="2667" b="1" dirty="0">
                <a:solidFill>
                  <a:srgbClr val="0070C0"/>
                </a:solidFill>
              </a:rPr>
              <a:t>stop thinking of your infrastructure as hardware</a:t>
            </a:r>
            <a:r>
              <a:rPr lang="en-US" sz="2667" dirty="0"/>
              <a:t>, and instead </a:t>
            </a:r>
            <a:r>
              <a:rPr lang="en-US" sz="2667" b="1" dirty="0">
                <a:solidFill>
                  <a:srgbClr val="0070C0"/>
                </a:solidFill>
              </a:rPr>
              <a:t>think of it (and use it) as software. </a:t>
            </a:r>
          </a:p>
        </p:txBody>
      </p:sp>
      <p:pic>
        <p:nvPicPr>
          <p:cNvPr id="3" name="Picture 2"/>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41111" y="2629578"/>
            <a:ext cx="4483101"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858747" y="2629578"/>
            <a:ext cx="4449612"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2" name="Right Arrow 1"/>
          <p:cNvSpPr/>
          <p:nvPr/>
        </p:nvSpPr>
        <p:spPr>
          <a:xfrm>
            <a:off x="5500895" y="3704068"/>
            <a:ext cx="1196829" cy="1029049"/>
          </a:xfrm>
          <a:prstGeom prst="rightArrow">
            <a:avLst/>
          </a:prstGeom>
          <a:solidFill>
            <a:schemeClr val="accent6">
              <a:lumMod val="75000"/>
            </a:schemeClr>
          </a:solidFill>
          <a:ln>
            <a:solidFill>
              <a:schemeClr val="accent6">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dirty="0"/>
          </a:p>
        </p:txBody>
      </p:sp>
    </p:spTree>
    <p:custDataLst>
      <p:tags r:id="rId1"/>
    </p:custDataLst>
    <p:extLst>
      <p:ext uri="{BB962C8B-B14F-4D97-AF65-F5344CB8AC3E}">
        <p14:creationId xmlns:p14="http://schemas.microsoft.com/office/powerpoint/2010/main" val="2249615110"/>
      </p:ext>
    </p:extLst>
  </p:cSld>
  <p:clrMapOvr>
    <a:masterClrMapping/>
  </p:clrMapOvr>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Before Cloud Computing </a:t>
            </a:r>
          </a:p>
        </p:txBody>
      </p:sp>
      <p:sp>
        <p:nvSpPr>
          <p:cNvPr id="7" name="Content Placeholder 6"/>
          <p:cNvSpPr>
            <a:spLocks noGrp="1"/>
          </p:cNvSpPr>
          <p:nvPr>
            <p:ph idx="1"/>
          </p:nvPr>
        </p:nvSpPr>
        <p:spPr>
          <a:xfrm>
            <a:off x="5439722" y="1551141"/>
            <a:ext cx="6736078" cy="4913308"/>
          </a:xfrm>
        </p:spPr>
        <p:txBody>
          <a:bodyPr>
            <a:normAutofit fontScale="92500" lnSpcReduction="20000"/>
          </a:bodyPr>
          <a:lstStyle/>
          <a:p>
            <a:pPr marL="457200" indent="-457200"/>
            <a:r>
              <a:rPr lang="en-US" sz="3000" dirty="0"/>
              <a:t>Hardware solutions are </a:t>
            </a:r>
            <a:r>
              <a:rPr lang="en-US" sz="3000" b="1" dirty="0">
                <a:latin typeface="Amazon Ember" panose="020B0603020204020204" pitchFamily="34" charset="0"/>
                <a:ea typeface="Amazon Ember" panose="020B0603020204020204" pitchFamily="34" charset="0"/>
                <a:cs typeface="Amazon Ember" panose="020B0603020204020204" pitchFamily="34" charset="0"/>
              </a:rPr>
              <a:t>physical</a:t>
            </a:r>
            <a:r>
              <a:rPr lang="en-US" sz="3000" dirty="0"/>
              <a:t>. This means they require:</a:t>
            </a:r>
          </a:p>
          <a:p>
            <a:pPr marL="914400" lvl="1" indent="-457200"/>
            <a:r>
              <a:rPr lang="en-US" sz="2600" dirty="0"/>
              <a:t>Space</a:t>
            </a:r>
          </a:p>
          <a:p>
            <a:pPr marL="914400" lvl="1" indent="-457200"/>
            <a:r>
              <a:rPr lang="en-US" sz="2600" dirty="0"/>
              <a:t>Staff</a:t>
            </a:r>
          </a:p>
          <a:p>
            <a:pPr marL="914400" lvl="1" indent="-457200"/>
            <a:r>
              <a:rPr lang="en-US" sz="2600" dirty="0"/>
              <a:t>Physical security</a:t>
            </a:r>
          </a:p>
          <a:p>
            <a:pPr marL="914400" lvl="1" indent="-457200"/>
            <a:r>
              <a:rPr lang="en-US" sz="2600" dirty="0"/>
              <a:t>Planning</a:t>
            </a:r>
          </a:p>
          <a:p>
            <a:pPr marL="914400" lvl="1" indent="-457200"/>
            <a:r>
              <a:rPr lang="en-US" sz="2600" dirty="0"/>
              <a:t>Capital expenditure</a:t>
            </a:r>
          </a:p>
          <a:p>
            <a:pPr marL="457200" indent="-457200"/>
            <a:r>
              <a:rPr lang="en-US" sz="2600" dirty="0"/>
              <a:t>Guess at theoretical maximum peaks</a:t>
            </a:r>
          </a:p>
          <a:p>
            <a:pPr marL="914400" lvl="1" indent="-457200"/>
            <a:r>
              <a:rPr lang="en-US" sz="2600" dirty="0"/>
              <a:t>Is there enough resource capacity?</a:t>
            </a:r>
          </a:p>
          <a:p>
            <a:pPr marL="914400" lvl="1" indent="-457200"/>
            <a:r>
              <a:rPr lang="en-US" sz="2600" dirty="0"/>
              <a:t>Do we have sufficient storage?</a:t>
            </a:r>
          </a:p>
          <a:p>
            <a:pPr marL="385224" lvl="1"/>
            <a:endParaRPr lang="en-US" sz="2133" dirty="0"/>
          </a:p>
          <a:p>
            <a:pPr marL="4233" lvl="1" indent="0">
              <a:spcBef>
                <a:spcPts val="0"/>
              </a:spcBef>
              <a:spcAft>
                <a:spcPts val="800"/>
              </a:spcAft>
              <a:buNone/>
            </a:pPr>
            <a:r>
              <a:rPr lang="en-US" sz="3000" dirty="0"/>
              <a:t>What if your needs change?</a:t>
            </a:r>
          </a:p>
          <a:p>
            <a:pPr marL="4233" lvl="1" indent="0">
              <a:buNone/>
            </a:pPr>
            <a:r>
              <a:rPr lang="en-US" sz="2600" dirty="0"/>
              <a:t>You have to go through the </a:t>
            </a:r>
            <a:r>
              <a:rPr lang="en-US" sz="26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time, effort, and cost</a:t>
            </a:r>
            <a:r>
              <a:rPr lang="en-US" sz="2600" b="1" dirty="0"/>
              <a:t> </a:t>
            </a:r>
            <a:r>
              <a:rPr lang="en-US" sz="2600" dirty="0"/>
              <a:t>required to change all these.</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9054" y="2382545"/>
            <a:ext cx="4585336" cy="3250500"/>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422572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Utilizing Cloud Computing</a:t>
            </a:r>
          </a:p>
        </p:txBody>
      </p:sp>
      <p:sp>
        <p:nvSpPr>
          <p:cNvPr id="7" name="Content Placeholder 6"/>
          <p:cNvSpPr>
            <a:spLocks noGrp="1"/>
          </p:cNvSpPr>
          <p:nvPr>
            <p:ph idx="1"/>
          </p:nvPr>
        </p:nvSpPr>
        <p:spPr>
          <a:xfrm>
            <a:off x="6505522" y="2068486"/>
            <a:ext cx="5427398" cy="3326474"/>
          </a:xfrm>
        </p:spPr>
        <p:txBody>
          <a:bodyPr>
            <a:noAutofit/>
          </a:bodyPr>
          <a:lstStyle/>
          <a:p>
            <a:pPr marL="0" indent="0">
              <a:buNone/>
            </a:pPr>
            <a:r>
              <a:rPr lang="en-US" sz="3200" dirty="0"/>
              <a:t>Software is flexible.</a:t>
            </a:r>
          </a:p>
          <a:p>
            <a:endParaRPr lang="en-US" sz="3200" dirty="0"/>
          </a:p>
          <a:p>
            <a:pPr marL="4233" lvl="1" indent="0">
              <a:buNone/>
            </a:pPr>
            <a:r>
              <a:rPr lang="en-US" sz="3200" dirty="0"/>
              <a:t>If your needs change, your software can change much  more </a:t>
            </a:r>
            <a:r>
              <a:rPr lang="en-US" sz="3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quickly, easily, and   cost-effectively </a:t>
            </a:r>
            <a:r>
              <a:rPr lang="en-US" sz="3200" dirty="0"/>
              <a:t>than your hardware.</a:t>
            </a:r>
          </a:p>
        </p:txBody>
      </p:sp>
      <p:pic>
        <p:nvPicPr>
          <p:cNvPr id="5" name="Picture 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9053" y="1919521"/>
            <a:ext cx="5593081" cy="3994724"/>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657858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6EED-576C-B227-308F-2BA551655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63A14-46D5-B68D-1883-A9277657ED36}"/>
              </a:ext>
            </a:extLst>
          </p:cNvPr>
          <p:cNvSpPr>
            <a:spLocks noGrp="1"/>
          </p:cNvSpPr>
          <p:nvPr>
            <p:ph type="title"/>
          </p:nvPr>
        </p:nvSpPr>
        <p:spPr>
          <a:xfrm>
            <a:off x="335903" y="2932909"/>
            <a:ext cx="11403814" cy="779463"/>
          </a:xfrm>
        </p:spPr>
        <p:txBody>
          <a:bodyPr>
            <a:noAutofit/>
          </a:bodyPr>
          <a:lstStyle/>
          <a:p>
            <a:r>
              <a:rPr lang="en-US" sz="4800" dirty="0"/>
              <a:t>Part : What are Models of Cloud Computing?</a:t>
            </a:r>
          </a:p>
        </p:txBody>
      </p:sp>
    </p:spTree>
    <p:custDataLst>
      <p:tags r:id="rId1"/>
    </p:custDataLst>
    <p:extLst>
      <p:ext uri="{BB962C8B-B14F-4D97-AF65-F5344CB8AC3E}">
        <p14:creationId xmlns:p14="http://schemas.microsoft.com/office/powerpoint/2010/main" val="747788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77E09-49D2-0A4D-B25B-63F85693D6D5}"/>
              </a:ext>
            </a:extLst>
          </p:cNvPr>
          <p:cNvSpPr>
            <a:spLocks noGrp="1"/>
          </p:cNvSpPr>
          <p:nvPr>
            <p:ph type="title"/>
          </p:nvPr>
        </p:nvSpPr>
        <p:spPr/>
        <p:txBody>
          <a:bodyPr/>
          <a:lstStyle/>
          <a:p>
            <a:r>
              <a:rPr lang="en-US" dirty="0"/>
              <a:t>Models of Cloud Computing</a:t>
            </a:r>
            <a:endParaRPr lang="en-IN" dirty="0"/>
          </a:p>
        </p:txBody>
      </p:sp>
      <p:sp>
        <p:nvSpPr>
          <p:cNvPr id="3" name="Content Placeholder 2">
            <a:extLst>
              <a:ext uri="{FF2B5EF4-FFF2-40B4-BE49-F238E27FC236}">
                <a16:creationId xmlns:a16="http://schemas.microsoft.com/office/drawing/2014/main" id="{5D643498-25B4-BA7A-F9F8-B81488A0B6D4}"/>
              </a:ext>
            </a:extLst>
          </p:cNvPr>
          <p:cNvSpPr>
            <a:spLocks noGrp="1"/>
          </p:cNvSpPr>
          <p:nvPr>
            <p:ph idx="1"/>
          </p:nvPr>
        </p:nvSpPr>
        <p:spPr/>
        <p:txBody>
          <a:bodyPr/>
          <a:lstStyle/>
          <a:p>
            <a:r>
              <a:rPr lang="en-US" dirty="0"/>
              <a:t>Cloud computing models refer to </a:t>
            </a:r>
            <a:r>
              <a:rPr lang="en-US" b="1" dirty="0"/>
              <a:t>the different ways cloud services are delivered</a:t>
            </a:r>
            <a:r>
              <a:rPr lang="en-US" dirty="0"/>
              <a:t> to users. </a:t>
            </a:r>
          </a:p>
          <a:p>
            <a:r>
              <a:rPr lang="en-US" dirty="0"/>
              <a:t>These models define </a:t>
            </a:r>
            <a:r>
              <a:rPr lang="en-US" b="1" dirty="0"/>
              <a:t>what part of the technology stack</a:t>
            </a:r>
            <a:r>
              <a:rPr lang="en-US" dirty="0"/>
              <a:t> you manage and </a:t>
            </a:r>
            <a:r>
              <a:rPr lang="en-US" b="1" dirty="0"/>
              <a:t>what part the cloud provider manages</a:t>
            </a:r>
            <a:r>
              <a:rPr lang="en-US" dirty="0"/>
              <a:t>.</a:t>
            </a:r>
            <a:endParaRPr lang="en-IN" dirty="0"/>
          </a:p>
        </p:txBody>
      </p:sp>
    </p:spTree>
    <p:extLst>
      <p:ext uri="{BB962C8B-B14F-4D97-AF65-F5344CB8AC3E}">
        <p14:creationId xmlns:p14="http://schemas.microsoft.com/office/powerpoint/2010/main" val="3444371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Three Models of Cloud Computing</a:t>
            </a:r>
          </a:p>
        </p:txBody>
      </p:sp>
      <p:sp>
        <p:nvSpPr>
          <p:cNvPr id="6" name="Content Placeholder 6"/>
          <p:cNvSpPr txBox="1">
            <a:spLocks/>
          </p:cNvSpPr>
          <p:nvPr/>
        </p:nvSpPr>
        <p:spPr>
          <a:xfrm>
            <a:off x="4464828" y="2958062"/>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PaaS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Platform </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 name="Content Placeholder 6"/>
          <p:cNvSpPr txBox="1">
            <a:spLocks/>
          </p:cNvSpPr>
          <p:nvPr/>
        </p:nvSpPr>
        <p:spPr>
          <a:xfrm>
            <a:off x="8373357" y="2958062"/>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SaaS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Software</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 name="Content Placeholder 2"/>
          <p:cNvSpPr txBox="1">
            <a:spLocks/>
          </p:cNvSpPr>
          <p:nvPr/>
        </p:nvSpPr>
        <p:spPr>
          <a:xfrm>
            <a:off x="708299" y="3146699"/>
            <a:ext cx="2821575" cy="282157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buNone/>
            </a:pPr>
            <a:endParaRPr lang="en-US" sz="2133" dirty="0"/>
          </a:p>
        </p:txBody>
      </p:sp>
      <p:sp>
        <p:nvSpPr>
          <p:cNvPr id="11" name="Content Placeholder 2"/>
          <p:cNvSpPr txBox="1">
            <a:spLocks/>
          </p:cNvSpPr>
          <p:nvPr/>
        </p:nvSpPr>
        <p:spPr>
          <a:xfrm>
            <a:off x="8738811" y="3146699"/>
            <a:ext cx="2944173" cy="282157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buNone/>
            </a:pPr>
            <a:endParaRPr lang="en-US" sz="2133" dirty="0"/>
          </a:p>
        </p:txBody>
      </p:sp>
      <p:sp>
        <p:nvSpPr>
          <p:cNvPr id="13" name="Content Placeholder 6"/>
          <p:cNvSpPr txBox="1">
            <a:spLocks/>
          </p:cNvSpPr>
          <p:nvPr/>
        </p:nvSpPr>
        <p:spPr>
          <a:xfrm>
            <a:off x="556299" y="2958061"/>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IaaS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Infrastructure</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687516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86F71F-E5E4-E325-0032-113233DA7A0B}"/>
              </a:ext>
            </a:extLst>
          </p:cNvPr>
          <p:cNvSpPr>
            <a:spLocks noGrp="1"/>
          </p:cNvSpPr>
          <p:nvPr>
            <p:ph type="title"/>
          </p:nvPr>
        </p:nvSpPr>
        <p:spPr/>
        <p:txBody>
          <a:bodyPr/>
          <a:lstStyle/>
          <a:p>
            <a:r>
              <a:rPr lang="en-US" dirty="0"/>
              <a:t>Models of Cloud Computing</a:t>
            </a:r>
            <a:endParaRPr lang="en-IN" dirty="0"/>
          </a:p>
        </p:txBody>
      </p:sp>
      <p:sp>
        <p:nvSpPr>
          <p:cNvPr id="5" name="Content Placeholder 4">
            <a:extLst>
              <a:ext uri="{FF2B5EF4-FFF2-40B4-BE49-F238E27FC236}">
                <a16:creationId xmlns:a16="http://schemas.microsoft.com/office/drawing/2014/main" id="{A146FFD6-A883-68D5-90DB-F224F1B101EB}"/>
              </a:ext>
            </a:extLst>
          </p:cNvPr>
          <p:cNvSpPr>
            <a:spLocks noGrp="1"/>
          </p:cNvSpPr>
          <p:nvPr>
            <p:ph idx="1"/>
          </p:nvPr>
        </p:nvSpPr>
        <p:spPr>
          <a:xfrm>
            <a:off x="4423792" y="1490069"/>
            <a:ext cx="3955098" cy="4913308"/>
          </a:xfrm>
        </p:spPr>
        <p:txBody>
          <a:bodyPr/>
          <a:lstStyle/>
          <a:p>
            <a:r>
              <a:rPr lang="en-US" b="1" dirty="0"/>
              <a:t>Platform as a Service:</a:t>
            </a:r>
          </a:p>
          <a:p>
            <a:r>
              <a:rPr lang="en-US" sz="2000" dirty="0"/>
              <a:t>provides a </a:t>
            </a:r>
            <a:r>
              <a:rPr lang="en-US" sz="2000" b="1" dirty="0"/>
              <a:t>ready-made platform</a:t>
            </a:r>
            <a:r>
              <a:rPr lang="en-US" sz="2000" dirty="0"/>
              <a:t> where you can build, test, and deploy your applications—without managing the underlying infrastructure.</a:t>
            </a:r>
          </a:p>
          <a:p>
            <a:r>
              <a:rPr lang="en-US" sz="2000" dirty="0"/>
              <a:t>You only focus on writing your code or app. The platform handles everything else like server setup or database.</a:t>
            </a:r>
          </a:p>
          <a:p>
            <a:endParaRPr lang="en-US" sz="2000" b="1" dirty="0"/>
          </a:p>
          <a:p>
            <a:r>
              <a:rPr lang="en-US" b="1" dirty="0"/>
              <a:t>Like kitchen with oven &amp; ingredients</a:t>
            </a:r>
          </a:p>
        </p:txBody>
      </p:sp>
      <p:sp>
        <p:nvSpPr>
          <p:cNvPr id="7" name="Content Placeholder 4">
            <a:extLst>
              <a:ext uri="{FF2B5EF4-FFF2-40B4-BE49-F238E27FC236}">
                <a16:creationId xmlns:a16="http://schemas.microsoft.com/office/drawing/2014/main" id="{156AF874-A081-AD97-F2C7-FA3DE9B73DFC}"/>
              </a:ext>
            </a:extLst>
          </p:cNvPr>
          <p:cNvSpPr txBox="1">
            <a:spLocks/>
          </p:cNvSpPr>
          <p:nvPr/>
        </p:nvSpPr>
        <p:spPr>
          <a:xfrm>
            <a:off x="390938" y="1490069"/>
            <a:ext cx="4143740" cy="4913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Infrastructure as a Service:</a:t>
            </a:r>
          </a:p>
          <a:p>
            <a:r>
              <a:rPr lang="en-US" sz="2000" dirty="0"/>
              <a:t>provides </a:t>
            </a:r>
            <a:r>
              <a:rPr lang="en-US" sz="2000" b="1" dirty="0"/>
              <a:t>basic building blocks</a:t>
            </a:r>
            <a:r>
              <a:rPr lang="en-US" sz="2000" dirty="0"/>
              <a:t> like virtual machines, storage, and networking—on-demand. You are responsible for installing and managing your own software (like OS, apps, etc.).</a:t>
            </a:r>
          </a:p>
          <a:p>
            <a:r>
              <a:rPr lang="en-US" sz="2000" dirty="0"/>
              <a:t>You get a computer in the cloud that you can use as if it’s your own. You install what you need and take care of it</a:t>
            </a:r>
            <a:r>
              <a:rPr lang="en-US" sz="1400" dirty="0"/>
              <a:t>.</a:t>
            </a:r>
            <a:endParaRPr lang="en-US" sz="2000" dirty="0"/>
          </a:p>
          <a:p>
            <a:r>
              <a:rPr lang="en-US" b="1" dirty="0"/>
              <a:t>Like empty kitchen</a:t>
            </a:r>
          </a:p>
          <a:p>
            <a:endParaRPr lang="en-IN" dirty="0"/>
          </a:p>
        </p:txBody>
      </p:sp>
      <p:sp>
        <p:nvSpPr>
          <p:cNvPr id="8" name="Content Placeholder 4">
            <a:extLst>
              <a:ext uri="{FF2B5EF4-FFF2-40B4-BE49-F238E27FC236}">
                <a16:creationId xmlns:a16="http://schemas.microsoft.com/office/drawing/2014/main" id="{FB4B80CE-69FE-F79E-454B-D460DF29AC15}"/>
              </a:ext>
            </a:extLst>
          </p:cNvPr>
          <p:cNvSpPr txBox="1">
            <a:spLocks/>
          </p:cNvSpPr>
          <p:nvPr/>
        </p:nvSpPr>
        <p:spPr>
          <a:xfrm>
            <a:off x="8378890" y="1490069"/>
            <a:ext cx="3717505" cy="4913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Software as a Service:</a:t>
            </a:r>
          </a:p>
          <a:p>
            <a:r>
              <a:rPr lang="en-US" sz="2000" dirty="0"/>
              <a:t>offers </a:t>
            </a:r>
            <a:r>
              <a:rPr lang="en-US" sz="2000" b="1" dirty="0"/>
              <a:t>ready-to-use software applications</a:t>
            </a:r>
            <a:r>
              <a:rPr lang="en-US" sz="2000" dirty="0"/>
              <a:t> over the internet. You don’t worry about how it's built or maintained—just sign in and use it.</a:t>
            </a:r>
          </a:p>
          <a:p>
            <a:r>
              <a:rPr lang="en-US" sz="2000" dirty="0"/>
              <a:t>You open your browser and start using apps like Gmail or Netflix—no installation, no setup.</a:t>
            </a:r>
          </a:p>
          <a:p>
            <a:endParaRPr lang="en-US" sz="2000" dirty="0"/>
          </a:p>
          <a:p>
            <a:r>
              <a:rPr lang="en-US" b="1" dirty="0"/>
              <a:t>Like ordering pizza</a:t>
            </a:r>
            <a:endParaRPr lang="en-IN" b="1" dirty="0"/>
          </a:p>
        </p:txBody>
      </p:sp>
    </p:spTree>
    <p:extLst>
      <p:ext uri="{BB962C8B-B14F-4D97-AF65-F5344CB8AC3E}">
        <p14:creationId xmlns:p14="http://schemas.microsoft.com/office/powerpoint/2010/main" val="3512531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Three Cloud Deployment Models</a:t>
            </a:r>
          </a:p>
        </p:txBody>
      </p:sp>
      <p:grpSp>
        <p:nvGrpSpPr>
          <p:cNvPr id="6" name="Group 5"/>
          <p:cNvGrpSpPr/>
          <p:nvPr/>
        </p:nvGrpSpPr>
        <p:grpSpPr>
          <a:xfrm>
            <a:off x="526240" y="1746476"/>
            <a:ext cx="7382684" cy="3247407"/>
            <a:chOff x="2205926" y="1746476"/>
            <a:chExt cx="7382684" cy="3247407"/>
          </a:xfrm>
        </p:grpSpPr>
        <p:sp>
          <p:nvSpPr>
            <p:cNvPr id="9" name="Content Placeholder 2"/>
            <p:cNvSpPr txBox="1">
              <a:spLocks/>
            </p:cNvSpPr>
            <p:nvPr/>
          </p:nvSpPr>
          <p:spPr>
            <a:xfrm>
              <a:off x="2502727" y="4366867"/>
              <a:ext cx="2821575" cy="62701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All-In Cloud / Public</a:t>
              </a:r>
            </a:p>
          </p:txBody>
        </p:sp>
        <p:sp>
          <p:nvSpPr>
            <p:cNvPr id="10" name="Content Placeholder 2"/>
            <p:cNvSpPr txBox="1">
              <a:spLocks/>
            </p:cNvSpPr>
            <p:nvPr/>
          </p:nvSpPr>
          <p:spPr>
            <a:xfrm>
              <a:off x="6884070" y="4362726"/>
              <a:ext cx="1842795" cy="545736"/>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latin typeface="Arial"/>
                  <a:cs typeface="Arial"/>
                </a:defRPr>
              </a:lvl1pPr>
              <a:lvl2pPr marL="4233" lvl="1" indent="0" algn="ctr" defTabSz="457200">
                <a:spcBef>
                  <a:spcPct val="20000"/>
                </a:spcBef>
                <a:buClr>
                  <a:schemeClr val="accent1"/>
                </a:buClr>
                <a:buSzPct val="125000"/>
                <a:buFontTx/>
                <a:buNone/>
                <a:defRPr sz="2667" b="1" i="0">
                  <a:latin typeface="Amazon Ember" panose="020B0603020204020204" pitchFamily="34" charset="0"/>
                  <a:ea typeface="Amazon Ember" panose="020B0603020204020204" pitchFamily="34" charset="0"/>
                  <a:cs typeface="Amazon Ember" panose="020B0603020204020204" pitchFamily="34" charset="0"/>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dirty="0"/>
                <a:t>Hybrid</a:t>
              </a:r>
            </a:p>
          </p:txBody>
        </p:sp>
        <p:pic>
          <p:nvPicPr>
            <p:cNvPr id="9218" name="Picture 2" descr="Cloud Comput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926" y="1746476"/>
              <a:ext cx="3415175" cy="27212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6">
              <a:extLst>
                <a:ext uri="{28A0092B-C50C-407E-A947-70E740481C1C}">
                  <a14:useLocalDpi xmlns:a14="http://schemas.microsoft.com/office/drawing/2010/main" val="0"/>
                </a:ext>
              </a:extLst>
            </a:blip>
            <a:srcRect l="25657" r="25555"/>
            <a:stretch/>
          </p:blipFill>
          <p:spPr>
            <a:xfrm>
              <a:off x="6022327" y="2008275"/>
              <a:ext cx="3566283" cy="2329990"/>
            </a:xfrm>
            <a:prstGeom prst="rect">
              <a:avLst/>
            </a:prstGeom>
          </p:spPr>
        </p:pic>
      </p:grpSp>
      <p:sp>
        <p:nvSpPr>
          <p:cNvPr id="8" name="Content Placeholder 2">
            <a:extLst>
              <a:ext uri="{FF2B5EF4-FFF2-40B4-BE49-F238E27FC236}">
                <a16:creationId xmlns:a16="http://schemas.microsoft.com/office/drawing/2014/main" id="{5687AD2C-1CD1-D449-BFD2-A17A1256B70C}"/>
              </a:ext>
            </a:extLst>
          </p:cNvPr>
          <p:cNvSpPr txBox="1">
            <a:spLocks/>
          </p:cNvSpPr>
          <p:nvPr/>
        </p:nvSpPr>
        <p:spPr>
          <a:xfrm>
            <a:off x="8683458" y="4376580"/>
            <a:ext cx="2819668" cy="531882"/>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latin typeface="Arial"/>
                <a:cs typeface="Arial"/>
              </a:defRPr>
            </a:lvl1pPr>
            <a:lvl2pPr marL="4233" lvl="1" indent="0" algn="ctr" defTabSz="457200">
              <a:spcBef>
                <a:spcPct val="20000"/>
              </a:spcBef>
              <a:buClr>
                <a:schemeClr val="accent1"/>
              </a:buClr>
              <a:buSzPct val="125000"/>
              <a:buFontTx/>
              <a:buNone/>
              <a:defRPr sz="2667" b="1" i="0">
                <a:latin typeface="Amazon Ember" panose="020B0603020204020204" pitchFamily="34" charset="0"/>
                <a:ea typeface="Amazon Ember" panose="020B0603020204020204" pitchFamily="34" charset="0"/>
                <a:cs typeface="Amazon Ember" panose="020B0603020204020204" pitchFamily="34" charset="0"/>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dirty="0"/>
              <a:t>Private Cloud</a:t>
            </a:r>
          </a:p>
          <a:p>
            <a:pPr lvl="1"/>
            <a:r>
              <a:rPr lang="en-US" dirty="0"/>
              <a:t>(On-premises)</a:t>
            </a:r>
          </a:p>
        </p:txBody>
      </p:sp>
      <p:pic>
        <p:nvPicPr>
          <p:cNvPr id="11" name="Picture 10">
            <a:extLst>
              <a:ext uri="{FF2B5EF4-FFF2-40B4-BE49-F238E27FC236}">
                <a16:creationId xmlns:a16="http://schemas.microsoft.com/office/drawing/2014/main" id="{068E5CE6-6114-BB4A-AE15-1A2202B504FE}"/>
              </a:ext>
            </a:extLst>
          </p:cNvPr>
          <p:cNvPicPr>
            <a:picLocks noChangeAspect="1"/>
          </p:cNvPicPr>
          <p:nvPr/>
        </p:nvPicPr>
        <p:blipFill rotWithShape="1">
          <a:blip r:embed="rId6">
            <a:extLst>
              <a:ext uri="{28A0092B-C50C-407E-A947-70E740481C1C}">
                <a14:useLocalDpi xmlns:a14="http://schemas.microsoft.com/office/drawing/2010/main" val="0"/>
              </a:ext>
            </a:extLst>
          </a:blip>
          <a:srcRect l="25657" r="25555"/>
          <a:stretch/>
        </p:blipFill>
        <p:spPr>
          <a:xfrm>
            <a:off x="8310150" y="1942108"/>
            <a:ext cx="3566283" cy="2329990"/>
          </a:xfrm>
          <a:prstGeom prst="rect">
            <a:avLst/>
          </a:prstGeom>
        </p:spPr>
      </p:pic>
    </p:spTree>
    <p:custDataLst>
      <p:tags r:id="rId1"/>
    </p:custDataLst>
    <p:extLst>
      <p:ext uri="{BB962C8B-B14F-4D97-AF65-F5344CB8AC3E}">
        <p14:creationId xmlns:p14="http://schemas.microsoft.com/office/powerpoint/2010/main" val="1691283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63BE5-74A7-BED0-10EE-D0522135E5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9C343C-FD49-2E0B-68B1-30E052982CA6}"/>
              </a:ext>
            </a:extLst>
          </p:cNvPr>
          <p:cNvSpPr>
            <a:spLocks noGrp="1"/>
          </p:cNvSpPr>
          <p:nvPr>
            <p:ph type="title"/>
          </p:nvPr>
        </p:nvSpPr>
        <p:spPr/>
        <p:txBody>
          <a:bodyPr/>
          <a:lstStyle/>
          <a:p>
            <a:r>
              <a:rPr lang="en-US" dirty="0"/>
              <a:t>Cloud Deployment Models</a:t>
            </a:r>
            <a:endParaRPr lang="en-IN" dirty="0"/>
          </a:p>
        </p:txBody>
      </p:sp>
      <p:sp>
        <p:nvSpPr>
          <p:cNvPr id="5" name="Content Placeholder 4">
            <a:extLst>
              <a:ext uri="{FF2B5EF4-FFF2-40B4-BE49-F238E27FC236}">
                <a16:creationId xmlns:a16="http://schemas.microsoft.com/office/drawing/2014/main" id="{9193FCE0-5B0C-A9D3-0EA3-0B666A32F516}"/>
              </a:ext>
            </a:extLst>
          </p:cNvPr>
          <p:cNvSpPr>
            <a:spLocks noGrp="1"/>
          </p:cNvSpPr>
          <p:nvPr>
            <p:ph idx="1"/>
          </p:nvPr>
        </p:nvSpPr>
        <p:spPr>
          <a:xfrm>
            <a:off x="4423792" y="1490069"/>
            <a:ext cx="3955098" cy="4913308"/>
          </a:xfrm>
        </p:spPr>
        <p:txBody>
          <a:bodyPr/>
          <a:lstStyle/>
          <a:p>
            <a:pPr marL="0" indent="0">
              <a:buNone/>
            </a:pPr>
            <a:r>
              <a:rPr lang="en-US" b="1" dirty="0"/>
              <a:t>Private Cloud / on premises</a:t>
            </a:r>
          </a:p>
          <a:p>
            <a:endParaRPr lang="en-US" sz="2400" dirty="0"/>
          </a:p>
          <a:p>
            <a:r>
              <a:rPr lang="en-US" sz="2400" dirty="0"/>
              <a:t>Infra owned by a single organization.</a:t>
            </a:r>
          </a:p>
          <a:p>
            <a:pPr marL="0" indent="0">
              <a:buNone/>
            </a:pPr>
            <a:endParaRPr lang="en-US" sz="2400" dirty="0"/>
          </a:p>
          <a:p>
            <a:r>
              <a:rPr lang="en-US" sz="2400" dirty="0"/>
              <a:t>Managed internally or by 3</a:t>
            </a:r>
            <a:r>
              <a:rPr lang="en-US" sz="2400" baseline="30000" dirty="0"/>
              <a:t>rd</a:t>
            </a:r>
            <a:r>
              <a:rPr lang="en-US" sz="2400" dirty="0"/>
              <a:t> party.</a:t>
            </a:r>
          </a:p>
          <a:p>
            <a:pPr marL="0" indent="0">
              <a:buNone/>
            </a:pPr>
            <a:endParaRPr lang="en-US" sz="2000" b="1" dirty="0"/>
          </a:p>
        </p:txBody>
      </p:sp>
      <p:sp>
        <p:nvSpPr>
          <p:cNvPr id="7" name="Content Placeholder 4">
            <a:extLst>
              <a:ext uri="{FF2B5EF4-FFF2-40B4-BE49-F238E27FC236}">
                <a16:creationId xmlns:a16="http://schemas.microsoft.com/office/drawing/2014/main" id="{88D44B7D-8610-93FA-1A1D-024D7F05D226}"/>
              </a:ext>
            </a:extLst>
          </p:cNvPr>
          <p:cNvSpPr txBox="1">
            <a:spLocks/>
          </p:cNvSpPr>
          <p:nvPr/>
        </p:nvSpPr>
        <p:spPr>
          <a:xfrm>
            <a:off x="390938" y="1490069"/>
            <a:ext cx="3854491" cy="4913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b="1" dirty="0"/>
              <a:t>Public Cloud / All-in Cloud</a:t>
            </a:r>
            <a:endParaRPr lang="en-US" sz="2400" dirty="0"/>
          </a:p>
          <a:p>
            <a:endParaRPr lang="en-US" sz="2400" dirty="0"/>
          </a:p>
          <a:p>
            <a:r>
              <a:rPr lang="en-US" sz="2400" dirty="0"/>
              <a:t>Infra owned &amp; operated by 3</a:t>
            </a:r>
            <a:r>
              <a:rPr lang="en-US" sz="2400" baseline="30000" dirty="0"/>
              <a:t>rd</a:t>
            </a:r>
            <a:r>
              <a:rPr lang="en-US" sz="2400" dirty="0"/>
              <a:t> party.</a:t>
            </a:r>
          </a:p>
          <a:p>
            <a:pPr marL="0" indent="0">
              <a:buNone/>
            </a:pPr>
            <a:endParaRPr lang="en-US" sz="2400" dirty="0"/>
          </a:p>
          <a:p>
            <a:pPr algn="just"/>
            <a:r>
              <a:rPr lang="en-US" sz="2400" dirty="0"/>
              <a:t>Resources shared with others but each customer’s data is isolated </a:t>
            </a:r>
            <a:endParaRPr lang="en-IN" sz="2400" dirty="0"/>
          </a:p>
        </p:txBody>
      </p:sp>
      <p:sp>
        <p:nvSpPr>
          <p:cNvPr id="8" name="Content Placeholder 4">
            <a:extLst>
              <a:ext uri="{FF2B5EF4-FFF2-40B4-BE49-F238E27FC236}">
                <a16:creationId xmlns:a16="http://schemas.microsoft.com/office/drawing/2014/main" id="{664E139C-A896-7011-5579-5426A1569105}"/>
              </a:ext>
            </a:extLst>
          </p:cNvPr>
          <p:cNvSpPr txBox="1">
            <a:spLocks/>
          </p:cNvSpPr>
          <p:nvPr/>
        </p:nvSpPr>
        <p:spPr>
          <a:xfrm>
            <a:off x="8378890" y="1490069"/>
            <a:ext cx="3717505" cy="4913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Tx/>
              <a:buBlip>
                <a:blip r:embed="rId2"/>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2"/>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2"/>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2"/>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b="1" dirty="0"/>
              <a:t>Hybrid Cloud </a:t>
            </a:r>
          </a:p>
          <a:p>
            <a:endParaRPr lang="en-US" sz="2400" dirty="0"/>
          </a:p>
          <a:p>
            <a:endParaRPr lang="en-US" sz="2400" dirty="0"/>
          </a:p>
          <a:p>
            <a:r>
              <a:rPr lang="en-US" sz="2400" dirty="0"/>
              <a:t>Combo.</a:t>
            </a:r>
            <a:endParaRPr lang="en-IN" sz="2400" b="1" dirty="0"/>
          </a:p>
          <a:p>
            <a:endParaRPr lang="en-IN" sz="2400" dirty="0"/>
          </a:p>
          <a:p>
            <a:endParaRPr lang="en-IN" sz="2400" dirty="0"/>
          </a:p>
          <a:p>
            <a:r>
              <a:rPr lang="en-IN" sz="2400" dirty="0"/>
              <a:t>Used for </a:t>
            </a:r>
            <a:r>
              <a:rPr lang="en-IN" sz="2400" b="1" dirty="0"/>
              <a:t>Flexibility </a:t>
            </a:r>
            <a:r>
              <a:rPr lang="en-IN" sz="2400" dirty="0"/>
              <a:t>&amp;</a:t>
            </a:r>
            <a:r>
              <a:rPr lang="en-IN" sz="2400" b="1" dirty="0"/>
              <a:t> Cost efficiency</a:t>
            </a:r>
            <a:endParaRPr lang="en-US" sz="2400" dirty="0"/>
          </a:p>
        </p:txBody>
      </p:sp>
    </p:spTree>
    <p:extLst>
      <p:ext uri="{BB962C8B-B14F-4D97-AF65-F5344CB8AC3E}">
        <p14:creationId xmlns:p14="http://schemas.microsoft.com/office/powerpoint/2010/main" val="884275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683053" y="1249927"/>
            <a:ext cx="8874568" cy="4989508"/>
          </a:xfrm>
          <a:prstGeom prst="rect">
            <a:avLst/>
          </a:prstGeom>
        </p:spPr>
      </p:pic>
    </p:spTree>
    <p:custDataLst>
      <p:tags r:id="rId1"/>
    </p:custDataLst>
    <p:extLst>
      <p:ext uri="{BB962C8B-B14F-4D97-AF65-F5344CB8AC3E}">
        <p14:creationId xmlns:p14="http://schemas.microsoft.com/office/powerpoint/2010/main" val="2137841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1183341" y="1223683"/>
            <a:ext cx="9333940" cy="5247779"/>
          </a:xfrm>
          <a:prstGeom prst="rect">
            <a:avLst/>
          </a:prstGeom>
        </p:spPr>
      </p:pic>
    </p:spTree>
    <p:custDataLst>
      <p:tags r:id="rId1"/>
    </p:custDataLst>
    <p:extLst>
      <p:ext uri="{BB962C8B-B14F-4D97-AF65-F5344CB8AC3E}">
        <p14:creationId xmlns:p14="http://schemas.microsoft.com/office/powerpoint/2010/main" val="624944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477671" y="1371599"/>
            <a:ext cx="9040837" cy="5082989"/>
          </a:xfrm>
          <a:prstGeom prst="rect">
            <a:avLst/>
          </a:prstGeom>
        </p:spPr>
      </p:pic>
    </p:spTree>
    <p:custDataLst>
      <p:tags r:id="rId1"/>
    </p:custDataLst>
    <p:extLst>
      <p:ext uri="{BB962C8B-B14F-4D97-AF65-F5344CB8AC3E}">
        <p14:creationId xmlns:p14="http://schemas.microsoft.com/office/powerpoint/2010/main" val="2446941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640786" y="1290917"/>
            <a:ext cx="9064753" cy="5096435"/>
          </a:xfrm>
          <a:prstGeom prst="rect">
            <a:avLst/>
          </a:prstGeom>
        </p:spPr>
      </p:pic>
    </p:spTree>
    <p:custDataLst>
      <p:tags r:id="rId1"/>
    </p:custDataLst>
    <p:extLst>
      <p:ext uri="{BB962C8B-B14F-4D97-AF65-F5344CB8AC3E}">
        <p14:creationId xmlns:p14="http://schemas.microsoft.com/office/powerpoint/2010/main" val="78516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58153" y="1613647"/>
            <a:ext cx="9533965" cy="4679576"/>
          </a:xfrm>
          <a:prstGeom prst="rect">
            <a:avLst/>
          </a:prstGeom>
        </p:spPr>
      </p:pic>
    </p:spTree>
    <p:custDataLst>
      <p:tags r:id="rId1"/>
    </p:custDataLst>
    <p:extLst>
      <p:ext uri="{BB962C8B-B14F-4D97-AF65-F5344CB8AC3E}">
        <p14:creationId xmlns:p14="http://schemas.microsoft.com/office/powerpoint/2010/main" val="895841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129554" y="1344705"/>
            <a:ext cx="9668434" cy="4894729"/>
          </a:xfrm>
          <a:prstGeom prst="rect">
            <a:avLst/>
          </a:prstGeom>
        </p:spPr>
      </p:pic>
    </p:spTree>
    <p:custDataLst>
      <p:tags r:id="rId1"/>
    </p:custDataLst>
    <p:extLst>
      <p:ext uri="{BB962C8B-B14F-4D97-AF65-F5344CB8AC3E}">
        <p14:creationId xmlns:p14="http://schemas.microsoft.com/office/powerpoint/2010/main" val="1141247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27847" y="1398495"/>
            <a:ext cx="9897035" cy="4908176"/>
          </a:xfrm>
          <a:prstGeom prst="rect">
            <a:avLst/>
          </a:prstGeom>
        </p:spPr>
      </p:pic>
    </p:spTree>
    <p:custDataLst>
      <p:tags r:id="rId1"/>
    </p:custDataLst>
    <p:extLst>
      <p:ext uri="{BB962C8B-B14F-4D97-AF65-F5344CB8AC3E}">
        <p14:creationId xmlns:p14="http://schemas.microsoft.com/office/powerpoint/2010/main" val="154823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149530" y="1560345"/>
            <a:ext cx="9705703" cy="4765741"/>
          </a:xfrm>
          <a:prstGeom prst="rect">
            <a:avLst/>
          </a:prstGeom>
        </p:spPr>
      </p:pic>
    </p:spTree>
    <p:custDataLst>
      <p:tags r:id="rId1"/>
    </p:custDataLst>
    <p:extLst>
      <p:ext uri="{BB962C8B-B14F-4D97-AF65-F5344CB8AC3E}">
        <p14:creationId xmlns:p14="http://schemas.microsoft.com/office/powerpoint/2010/main" val="3675456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532964" y="1331259"/>
            <a:ext cx="9332260" cy="4948518"/>
          </a:xfrm>
          <a:prstGeom prst="rect">
            <a:avLst/>
          </a:prstGeom>
        </p:spPr>
      </p:pic>
    </p:spTree>
    <p:custDataLst>
      <p:tags r:id="rId1"/>
    </p:custDataLst>
    <p:extLst>
      <p:ext uri="{BB962C8B-B14F-4D97-AF65-F5344CB8AC3E}">
        <p14:creationId xmlns:p14="http://schemas.microsoft.com/office/powerpoint/2010/main" val="2712443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290918" y="1277470"/>
            <a:ext cx="9629773" cy="5119253"/>
          </a:xfrm>
          <a:prstGeom prst="rect">
            <a:avLst/>
          </a:prstGeom>
        </p:spPr>
      </p:pic>
    </p:spTree>
    <p:custDataLst>
      <p:tags r:id="rId1"/>
    </p:custDataLst>
    <p:extLst>
      <p:ext uri="{BB962C8B-B14F-4D97-AF65-F5344CB8AC3E}">
        <p14:creationId xmlns:p14="http://schemas.microsoft.com/office/powerpoint/2010/main" val="808915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19F59-6ECD-6504-3867-831D724D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9B022-D0DD-390D-1C4B-880B797D2A34}"/>
              </a:ext>
            </a:extLst>
          </p:cNvPr>
          <p:cNvSpPr>
            <a:spLocks noGrp="1"/>
          </p:cNvSpPr>
          <p:nvPr>
            <p:ph type="title"/>
          </p:nvPr>
        </p:nvSpPr>
        <p:spPr>
          <a:xfrm>
            <a:off x="746759" y="2932909"/>
            <a:ext cx="10992957" cy="779463"/>
          </a:xfrm>
        </p:spPr>
        <p:txBody>
          <a:bodyPr>
            <a:noAutofit/>
          </a:bodyPr>
          <a:lstStyle/>
          <a:p>
            <a:r>
              <a:rPr lang="en-US" sz="4800" dirty="0"/>
              <a:t>Part 3: What is Multi-Cloud?</a:t>
            </a:r>
          </a:p>
        </p:txBody>
      </p:sp>
    </p:spTree>
    <p:custDataLst>
      <p:tags r:id="rId1"/>
    </p:custDataLst>
    <p:extLst>
      <p:ext uri="{BB962C8B-B14F-4D97-AF65-F5344CB8AC3E}">
        <p14:creationId xmlns:p14="http://schemas.microsoft.com/office/powerpoint/2010/main" val="3284494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102660" y="1317812"/>
            <a:ext cx="9950822" cy="5082988"/>
          </a:xfrm>
          <a:prstGeom prst="rect">
            <a:avLst/>
          </a:prstGeom>
        </p:spPr>
      </p:pic>
    </p:spTree>
    <p:custDataLst>
      <p:tags r:id="rId1"/>
    </p:custDataLst>
    <p:extLst>
      <p:ext uri="{BB962C8B-B14F-4D97-AF65-F5344CB8AC3E}">
        <p14:creationId xmlns:p14="http://schemas.microsoft.com/office/powerpoint/2010/main" val="2042195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530128" y="1264024"/>
            <a:ext cx="9256094" cy="5204012"/>
          </a:xfrm>
          <a:prstGeom prst="rect">
            <a:avLst/>
          </a:prstGeom>
        </p:spPr>
      </p:pic>
    </p:spTree>
    <p:custDataLst>
      <p:tags r:id="rId1"/>
    </p:custDataLst>
    <p:extLst>
      <p:ext uri="{BB962C8B-B14F-4D97-AF65-F5344CB8AC3E}">
        <p14:creationId xmlns:p14="http://schemas.microsoft.com/office/powerpoint/2010/main" val="2689014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53590" y="1292342"/>
            <a:ext cx="10202090" cy="5162245"/>
          </a:xfrm>
          <a:prstGeom prst="rect">
            <a:avLst/>
          </a:prstGeom>
        </p:spPr>
      </p:pic>
    </p:spTree>
    <p:custDataLst>
      <p:tags r:id="rId1"/>
    </p:custDataLst>
    <p:extLst>
      <p:ext uri="{BB962C8B-B14F-4D97-AF65-F5344CB8AC3E}">
        <p14:creationId xmlns:p14="http://schemas.microsoft.com/office/powerpoint/2010/main" val="2834454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489787" y="1237129"/>
            <a:ext cx="9256094" cy="5204012"/>
          </a:xfrm>
          <a:prstGeom prst="rect">
            <a:avLst/>
          </a:prstGeom>
        </p:spPr>
      </p:pic>
    </p:spTree>
    <p:custDataLst>
      <p:tags r:id="rId1"/>
    </p:custDataLst>
    <p:extLst>
      <p:ext uri="{BB962C8B-B14F-4D97-AF65-F5344CB8AC3E}">
        <p14:creationId xmlns:p14="http://schemas.microsoft.com/office/powerpoint/2010/main" val="2032800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00953" y="1304365"/>
            <a:ext cx="10165975" cy="4908176"/>
          </a:xfrm>
          <a:prstGeom prst="rect">
            <a:avLst/>
          </a:prstGeom>
        </p:spPr>
      </p:pic>
    </p:spTree>
    <p:custDataLst>
      <p:tags r:id="rId1"/>
    </p:custDataLst>
    <p:extLst>
      <p:ext uri="{BB962C8B-B14F-4D97-AF65-F5344CB8AC3E}">
        <p14:creationId xmlns:p14="http://schemas.microsoft.com/office/powerpoint/2010/main" val="172323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690163" y="1290917"/>
            <a:ext cx="8921248" cy="5015753"/>
          </a:xfrm>
          <a:prstGeom prst="rect">
            <a:avLst/>
          </a:prstGeom>
        </p:spPr>
      </p:pic>
    </p:spTree>
    <p:custDataLst>
      <p:tags r:id="rId1"/>
    </p:custDataLst>
    <p:extLst>
      <p:ext uri="{BB962C8B-B14F-4D97-AF65-F5344CB8AC3E}">
        <p14:creationId xmlns:p14="http://schemas.microsoft.com/office/powerpoint/2010/main" val="3918228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627094" y="1277471"/>
            <a:ext cx="9091892" cy="5111693"/>
          </a:xfrm>
          <a:prstGeom prst="rect">
            <a:avLst/>
          </a:prstGeom>
        </p:spPr>
      </p:pic>
    </p:spTree>
    <p:custDataLst>
      <p:tags r:id="rId1"/>
    </p:custDataLst>
    <p:extLst>
      <p:ext uri="{BB962C8B-B14F-4D97-AF65-F5344CB8AC3E}">
        <p14:creationId xmlns:p14="http://schemas.microsoft.com/office/powerpoint/2010/main" val="2977130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532965" y="1250576"/>
            <a:ext cx="8930528" cy="5136777"/>
          </a:xfrm>
          <a:prstGeom prst="rect">
            <a:avLst/>
          </a:prstGeom>
        </p:spPr>
      </p:pic>
    </p:spTree>
    <p:custDataLst>
      <p:tags r:id="rId1"/>
    </p:custDataLst>
    <p:extLst>
      <p:ext uri="{BB962C8B-B14F-4D97-AF65-F5344CB8AC3E}">
        <p14:creationId xmlns:p14="http://schemas.microsoft.com/office/powerpoint/2010/main" val="4182182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500676" y="1304365"/>
            <a:ext cx="9283865" cy="4988859"/>
          </a:xfrm>
          <a:prstGeom prst="rect">
            <a:avLst/>
          </a:prstGeom>
        </p:spPr>
      </p:pic>
    </p:spTree>
    <p:custDataLst>
      <p:tags r:id="rId1"/>
    </p:custDataLst>
    <p:extLst>
      <p:ext uri="{BB962C8B-B14F-4D97-AF65-F5344CB8AC3E}">
        <p14:creationId xmlns:p14="http://schemas.microsoft.com/office/powerpoint/2010/main" val="3926447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p:txBody>
          <a:bodyPr/>
          <a:lstStyle/>
          <a:p>
            <a:r>
              <a:rPr lang="en-US" dirty="0"/>
              <a:t>All-In Cloud versus On-Premises</a:t>
            </a:r>
          </a:p>
        </p:txBody>
      </p:sp>
      <p:sp>
        <p:nvSpPr>
          <p:cNvPr id="3" name="Content Placeholder 2">
            <a:extLst>
              <a:ext uri="{FF2B5EF4-FFF2-40B4-BE49-F238E27FC236}">
                <a16:creationId xmlns:a16="http://schemas.microsoft.com/office/drawing/2014/main" id="{AD6EF305-767E-CA48-89E5-6B26E060ACD1}"/>
              </a:ext>
            </a:extLst>
          </p:cNvPr>
          <p:cNvSpPr>
            <a:spLocks noGrp="1"/>
          </p:cNvSpPr>
          <p:nvPr>
            <p:ph idx="1"/>
          </p:nvPr>
        </p:nvSpPr>
        <p:spPr>
          <a:xfrm>
            <a:off x="720586" y="3692851"/>
            <a:ext cx="5075583" cy="2574134"/>
          </a:xfrm>
        </p:spPr>
        <p:txBody>
          <a:bodyPr>
            <a:normAutofit fontScale="77500" lnSpcReduction="20000"/>
          </a:bodyPr>
          <a:lstStyle/>
          <a:p>
            <a:pPr marL="0"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All-In Cloud</a:t>
            </a:r>
          </a:p>
          <a:p>
            <a:pPr marL="469900" indent="-469900"/>
            <a:r>
              <a:rPr lang="en-US" dirty="0"/>
              <a:t>No upfront investment</a:t>
            </a:r>
          </a:p>
          <a:p>
            <a:pPr marL="469900" indent="-469900"/>
            <a:r>
              <a:rPr lang="en-US" dirty="0"/>
              <a:t>Low ongoing costs</a:t>
            </a:r>
          </a:p>
          <a:p>
            <a:pPr marL="469900" indent="-469900"/>
            <a:r>
              <a:rPr lang="en-US" dirty="0"/>
              <a:t>Focus on innovation</a:t>
            </a:r>
          </a:p>
          <a:p>
            <a:pPr marL="469900" indent="-469900"/>
            <a:r>
              <a:rPr lang="en-US" dirty="0"/>
              <a:t>Flexible capacity</a:t>
            </a:r>
          </a:p>
          <a:p>
            <a:pPr marL="469900" indent="-469900"/>
            <a:r>
              <a:rPr lang="en-US" dirty="0"/>
              <a:t>Speed and agility</a:t>
            </a:r>
          </a:p>
          <a:p>
            <a:pPr marL="469900" indent="-469900"/>
            <a:r>
              <a:rPr lang="en-US" dirty="0"/>
              <a:t>Global reach on demand</a:t>
            </a:r>
          </a:p>
        </p:txBody>
      </p:sp>
      <p:sp>
        <p:nvSpPr>
          <p:cNvPr id="4" name="Content Placeholder 3">
            <a:extLst>
              <a:ext uri="{FF2B5EF4-FFF2-40B4-BE49-F238E27FC236}">
                <a16:creationId xmlns:a16="http://schemas.microsoft.com/office/drawing/2014/main" id="{00590C0F-A8AD-5F4B-AF1A-242B22CC63B1}"/>
              </a:ext>
            </a:extLst>
          </p:cNvPr>
          <p:cNvSpPr>
            <a:spLocks noGrp="1"/>
          </p:cNvSpPr>
          <p:nvPr>
            <p:ph idx="13"/>
          </p:nvPr>
        </p:nvSpPr>
        <p:spPr>
          <a:xfrm>
            <a:off x="5796169" y="3692851"/>
            <a:ext cx="6059500" cy="2574134"/>
          </a:xfrm>
        </p:spPr>
        <p:txBody>
          <a:bodyPr>
            <a:normAutofit fontScale="77500" lnSpcReduction="20000"/>
          </a:bodyPr>
          <a:lstStyle/>
          <a:p>
            <a:pPr marL="0"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On-Premises</a:t>
            </a:r>
          </a:p>
          <a:p>
            <a:pPr marL="469900" indent="-469900"/>
            <a:r>
              <a:rPr lang="en-US" dirty="0"/>
              <a:t>Large initial purchase</a:t>
            </a:r>
          </a:p>
          <a:p>
            <a:pPr marL="469900" indent="-469900"/>
            <a:r>
              <a:rPr lang="en-US" dirty="0"/>
              <a:t>Labor, patches, and upgrade cycles</a:t>
            </a:r>
          </a:p>
          <a:p>
            <a:pPr marL="469900" indent="-469900"/>
            <a:r>
              <a:rPr lang="en-US" dirty="0"/>
              <a:t>Systems administration</a:t>
            </a:r>
          </a:p>
          <a:p>
            <a:pPr marL="469900" indent="-469900"/>
            <a:r>
              <a:rPr lang="en-US" dirty="0"/>
              <a:t>Fixed capacity</a:t>
            </a:r>
          </a:p>
          <a:p>
            <a:pPr marL="469900" indent="-469900"/>
            <a:r>
              <a:rPr lang="en-US" dirty="0"/>
              <a:t>Long procurement cycle and setup</a:t>
            </a:r>
          </a:p>
          <a:p>
            <a:pPr marL="469900" indent="-469900"/>
            <a:r>
              <a:rPr lang="en-US" dirty="0"/>
              <a:t>Limited geographic regions</a:t>
            </a:r>
          </a:p>
        </p:txBody>
      </p:sp>
      <p:pic>
        <p:nvPicPr>
          <p:cNvPr id="5" name="Picture 4">
            <a:extLst>
              <a:ext uri="{FF2B5EF4-FFF2-40B4-BE49-F238E27FC236}">
                <a16:creationId xmlns:a16="http://schemas.microsoft.com/office/drawing/2014/main" id="{CA1213CE-0C0F-9747-8912-9C81BB7FE3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0988" y="1320093"/>
            <a:ext cx="3234778" cy="2095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4BF46C7F-E4B4-6745-926C-653414D64869}"/>
              </a:ext>
            </a:extLst>
          </p:cNvPr>
          <p:cNvPicPr>
            <a:picLocks noChangeAspect="1"/>
          </p:cNvPicPr>
          <p:nvPr/>
        </p:nvPicPr>
        <p:blipFill rotWithShape="1">
          <a:blip r:embed="rId4" cstate="email">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a:ext>
            </a:extLst>
          </a:blip>
          <a:srcRect/>
          <a:stretch/>
        </p:blipFill>
        <p:spPr>
          <a:xfrm>
            <a:off x="6775025" y="1080997"/>
            <a:ext cx="4101788" cy="2573847"/>
          </a:xfrm>
          <a:prstGeom prst="rect">
            <a:avLst/>
          </a:prstGeom>
        </p:spPr>
      </p:pic>
    </p:spTree>
    <p:extLst>
      <p:ext uri="{BB962C8B-B14F-4D97-AF65-F5344CB8AC3E}">
        <p14:creationId xmlns:p14="http://schemas.microsoft.com/office/powerpoint/2010/main" val="810514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p:txBody>
          <a:bodyPr/>
          <a:lstStyle/>
          <a:p>
            <a:r>
              <a:rPr lang="en-US" dirty="0"/>
              <a:t>What can you do in the cloud?</a:t>
            </a:r>
          </a:p>
        </p:txBody>
      </p:sp>
      <p:sp>
        <p:nvSpPr>
          <p:cNvPr id="3" name="Content Placeholder 2">
            <a:extLst>
              <a:ext uri="{FF2B5EF4-FFF2-40B4-BE49-F238E27FC236}">
                <a16:creationId xmlns:a16="http://schemas.microsoft.com/office/drawing/2014/main" id="{AD6EF305-767E-CA48-89E5-6B26E060ACD1}"/>
              </a:ext>
            </a:extLst>
          </p:cNvPr>
          <p:cNvSpPr>
            <a:spLocks noGrp="1"/>
          </p:cNvSpPr>
          <p:nvPr>
            <p:ph idx="1"/>
          </p:nvPr>
        </p:nvSpPr>
        <p:spPr>
          <a:xfrm>
            <a:off x="644939" y="1498600"/>
            <a:ext cx="7229061" cy="4539785"/>
          </a:xfrm>
        </p:spPr>
        <p:txBody>
          <a:bodyPr>
            <a:normAutofit/>
          </a:bodyPr>
          <a:lstStyle/>
          <a:p>
            <a:pPr marL="0" indent="0">
              <a:buNone/>
            </a:pPr>
            <a:r>
              <a:rPr lang="en-US" dirty="0"/>
              <a:t>You can use a cloud computing platform for:</a:t>
            </a:r>
          </a:p>
          <a:p>
            <a:pPr marL="469900" indent="-469900"/>
            <a:r>
              <a:rPr lang="en-US" dirty="0"/>
              <a:t>Application Hosting</a:t>
            </a:r>
          </a:p>
          <a:p>
            <a:pPr marL="469900" indent="-469900"/>
            <a:r>
              <a:rPr lang="en-US" dirty="0"/>
              <a:t>Backup and Storage</a:t>
            </a:r>
          </a:p>
          <a:p>
            <a:pPr marL="469900" indent="-469900"/>
            <a:r>
              <a:rPr lang="en-US" dirty="0"/>
              <a:t>Content Delivery</a:t>
            </a:r>
          </a:p>
          <a:p>
            <a:pPr marL="469900" indent="-469900"/>
            <a:r>
              <a:rPr lang="en-US" dirty="0"/>
              <a:t>Websites</a:t>
            </a:r>
          </a:p>
          <a:p>
            <a:pPr marL="469900" indent="-469900"/>
            <a:r>
              <a:rPr lang="en-US" dirty="0"/>
              <a:t>Enterprise IT</a:t>
            </a:r>
          </a:p>
          <a:p>
            <a:pPr marL="469900" indent="-469900"/>
            <a:r>
              <a:rPr lang="en-US" dirty="0"/>
              <a:t>Databases</a:t>
            </a:r>
          </a:p>
        </p:txBody>
      </p:sp>
      <p:pic>
        <p:nvPicPr>
          <p:cNvPr id="9" name="Picture 8">
            <a:extLst>
              <a:ext uri="{FF2B5EF4-FFF2-40B4-BE49-F238E27FC236}">
                <a16:creationId xmlns:a16="http://schemas.microsoft.com/office/drawing/2014/main" id="{CABCF37B-059F-8143-93A9-7D21377D50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010" y="4747425"/>
            <a:ext cx="1309927" cy="1746570"/>
          </a:xfrm>
          <a:prstGeom prst="rect">
            <a:avLst/>
          </a:prstGeom>
        </p:spPr>
      </p:pic>
      <p:sp>
        <p:nvSpPr>
          <p:cNvPr id="10" name="Cloud Callout 9">
            <a:extLst>
              <a:ext uri="{FF2B5EF4-FFF2-40B4-BE49-F238E27FC236}">
                <a16:creationId xmlns:a16="http://schemas.microsoft.com/office/drawing/2014/main" id="{9FC3FF1B-55F8-4041-B4A8-FAB451889E8C}"/>
              </a:ext>
            </a:extLst>
          </p:cNvPr>
          <p:cNvSpPr/>
          <p:nvPr/>
        </p:nvSpPr>
        <p:spPr>
          <a:xfrm>
            <a:off x="5948018" y="1907326"/>
            <a:ext cx="5975860" cy="2406902"/>
          </a:xfrm>
          <a:prstGeom prst="cloudCallout">
            <a:avLst>
              <a:gd name="adj1" fmla="val -44783"/>
              <a:gd name="adj2" fmla="val 66491"/>
            </a:avLst>
          </a:prstGeom>
          <a:noFill/>
          <a:ln>
            <a:solidFill>
              <a:schemeClr val="tx1">
                <a:lumMod val="50000"/>
                <a:lumOff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6939C987-4611-1244-826C-196FFD6FEC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8442" y="2386710"/>
            <a:ext cx="1458718" cy="1458718"/>
          </a:xfrm>
          <a:prstGeom prst="rect">
            <a:avLst/>
          </a:prstGeom>
        </p:spPr>
      </p:pic>
      <p:pic>
        <p:nvPicPr>
          <p:cNvPr id="12" name="Picture 11">
            <a:extLst>
              <a:ext uri="{FF2B5EF4-FFF2-40B4-BE49-F238E27FC236}">
                <a16:creationId xmlns:a16="http://schemas.microsoft.com/office/drawing/2014/main" id="{EADC037C-C372-8146-98F1-3F73EC2D0D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95421" y="2382446"/>
            <a:ext cx="1458718" cy="1458718"/>
          </a:xfrm>
          <a:prstGeom prst="rect">
            <a:avLst/>
          </a:prstGeom>
        </p:spPr>
      </p:pic>
      <p:pic>
        <p:nvPicPr>
          <p:cNvPr id="13" name="Picture 12">
            <a:extLst>
              <a:ext uri="{FF2B5EF4-FFF2-40B4-BE49-F238E27FC236}">
                <a16:creationId xmlns:a16="http://schemas.microsoft.com/office/drawing/2014/main" id="{1E066F54-5800-5042-9C1E-B4E4BC5B84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9503" y="2356077"/>
            <a:ext cx="1458718" cy="1458718"/>
          </a:xfrm>
          <a:prstGeom prst="rect">
            <a:avLst/>
          </a:prstGeom>
        </p:spPr>
      </p:pic>
    </p:spTree>
    <p:extLst>
      <p:ext uri="{BB962C8B-B14F-4D97-AF65-F5344CB8AC3E}">
        <p14:creationId xmlns:p14="http://schemas.microsoft.com/office/powerpoint/2010/main" val="4007827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1CC60-2D94-B401-7B0B-E01D35798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500A3-EF12-7BCC-E5C3-FC502B248B15}"/>
              </a:ext>
            </a:extLst>
          </p:cNvPr>
          <p:cNvSpPr>
            <a:spLocks noGrp="1"/>
          </p:cNvSpPr>
          <p:nvPr>
            <p:ph type="title"/>
          </p:nvPr>
        </p:nvSpPr>
        <p:spPr>
          <a:xfrm>
            <a:off x="746759" y="2932909"/>
            <a:ext cx="10992957" cy="779463"/>
          </a:xfrm>
        </p:spPr>
        <p:txBody>
          <a:bodyPr>
            <a:noAutofit/>
          </a:bodyPr>
          <a:lstStyle/>
          <a:p>
            <a:r>
              <a:rPr lang="en-US" sz="4800" dirty="0"/>
              <a:t>Part 4: Important Cloud Terminology</a:t>
            </a:r>
          </a:p>
        </p:txBody>
      </p:sp>
    </p:spTree>
    <p:custDataLst>
      <p:tags r:id="rId1"/>
    </p:custDataLst>
    <p:extLst>
      <p:ext uri="{BB962C8B-B14F-4D97-AF65-F5344CB8AC3E}">
        <p14:creationId xmlns:p14="http://schemas.microsoft.com/office/powerpoint/2010/main" val="2633046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Cloud Terminology</a:t>
            </a:r>
          </a:p>
        </p:txBody>
      </p:sp>
      <p:sp>
        <p:nvSpPr>
          <p:cNvPr id="3" name="Content Placeholder 2"/>
          <p:cNvSpPr>
            <a:spLocks noGrp="1"/>
          </p:cNvSpPr>
          <p:nvPr>
            <p:ph idx="1"/>
          </p:nvPr>
        </p:nvSpPr>
        <p:spPr>
          <a:xfrm>
            <a:off x="238538" y="1440305"/>
            <a:ext cx="11672108" cy="4913308"/>
          </a:xfrm>
        </p:spPr>
        <p:txBody>
          <a:bodyPr>
            <a:noAutofit/>
          </a:bodyPr>
          <a:lstStyle/>
          <a:p>
            <a:pPr marL="457200" lvl="1" indent="-457200">
              <a:lnSpc>
                <a:spcPct val="110000"/>
              </a:lnSpc>
              <a:spcBef>
                <a:spcPts val="600"/>
              </a:spcBef>
              <a:spcAft>
                <a:spcPts val="600"/>
              </a:spcAft>
            </a:pPr>
            <a:r>
              <a:rPr lang="en-US" b="1" dirty="0"/>
              <a:t>High Availability (Highly Available):</a:t>
            </a:r>
          </a:p>
          <a:p>
            <a:pPr marL="914400" lvl="2" indent="-457200">
              <a:lnSpc>
                <a:spcPct val="110000"/>
              </a:lnSpc>
              <a:spcBef>
                <a:spcPts val="600"/>
              </a:spcBef>
              <a:spcAft>
                <a:spcPts val="600"/>
              </a:spcAft>
            </a:pPr>
            <a:r>
              <a:rPr lang="en-US" dirty="0"/>
              <a:t>Accessible when you need it</a:t>
            </a:r>
          </a:p>
          <a:p>
            <a:pPr marL="457200" lvl="1" indent="-457200">
              <a:lnSpc>
                <a:spcPct val="110000"/>
              </a:lnSpc>
              <a:spcBef>
                <a:spcPts val="600"/>
              </a:spcBef>
              <a:spcAft>
                <a:spcPts val="600"/>
              </a:spcAft>
            </a:pPr>
            <a:r>
              <a:rPr lang="en-US" b="1" dirty="0"/>
              <a:t>Fault Tolerance (Fault Tolerant):</a:t>
            </a:r>
          </a:p>
          <a:p>
            <a:pPr marL="914400" lvl="2" indent="-457200">
              <a:lnSpc>
                <a:spcPct val="110000"/>
              </a:lnSpc>
              <a:spcBef>
                <a:spcPts val="600"/>
              </a:spcBef>
              <a:spcAft>
                <a:spcPts val="600"/>
              </a:spcAft>
            </a:pPr>
            <a:r>
              <a:rPr lang="en-US" dirty="0"/>
              <a:t>Ability to withstand a certain amount of failure and still remain functional</a:t>
            </a:r>
          </a:p>
          <a:p>
            <a:pPr marL="457200" lvl="1" indent="-457200">
              <a:lnSpc>
                <a:spcPct val="110000"/>
              </a:lnSpc>
              <a:spcBef>
                <a:spcPts val="600"/>
              </a:spcBef>
              <a:spcAft>
                <a:spcPts val="600"/>
              </a:spcAft>
            </a:pPr>
            <a:r>
              <a:rPr lang="en-US" b="1" dirty="0"/>
              <a:t>Scalability (Scalable):</a:t>
            </a:r>
          </a:p>
          <a:p>
            <a:pPr marL="914400" lvl="2" indent="-457200">
              <a:lnSpc>
                <a:spcPct val="110000"/>
              </a:lnSpc>
              <a:spcBef>
                <a:spcPts val="600"/>
              </a:spcBef>
              <a:spcAft>
                <a:spcPts val="600"/>
              </a:spcAft>
            </a:pPr>
            <a:r>
              <a:rPr lang="en-US" dirty="0"/>
              <a:t>Ability to easily grow in size, capacity, and/or scope when required</a:t>
            </a:r>
          </a:p>
          <a:p>
            <a:pPr marL="914400" lvl="2" indent="-457200">
              <a:lnSpc>
                <a:spcPct val="110000"/>
              </a:lnSpc>
              <a:spcBef>
                <a:spcPts val="600"/>
              </a:spcBef>
              <a:spcAft>
                <a:spcPts val="600"/>
              </a:spcAft>
            </a:pPr>
            <a:r>
              <a:rPr lang="en-US" dirty="0"/>
              <a:t>Growth is (usually) based on demand</a:t>
            </a:r>
          </a:p>
          <a:p>
            <a:pPr marL="457200" lvl="1" indent="-457200">
              <a:lnSpc>
                <a:spcPct val="110000"/>
              </a:lnSpc>
              <a:spcBef>
                <a:spcPts val="600"/>
              </a:spcBef>
              <a:spcAft>
                <a:spcPts val="600"/>
              </a:spcAft>
            </a:pPr>
            <a:r>
              <a:rPr lang="en-US" b="1" dirty="0"/>
              <a:t>Elasticity (Elastic):</a:t>
            </a:r>
          </a:p>
          <a:p>
            <a:pPr marL="914400" lvl="2" indent="-457200">
              <a:lnSpc>
                <a:spcPct val="110000"/>
              </a:lnSpc>
              <a:spcBef>
                <a:spcPts val="600"/>
              </a:spcBef>
              <a:spcAft>
                <a:spcPts val="600"/>
              </a:spcAft>
            </a:pPr>
            <a:r>
              <a:rPr lang="en-US" dirty="0"/>
              <a:t>Ability to grow (scale) when required and to reduce in size when resources are no longer needed</a:t>
            </a:r>
          </a:p>
          <a:p>
            <a:pPr marL="914400" lvl="2" indent="-457200">
              <a:lnSpc>
                <a:spcPct val="110000"/>
              </a:lnSpc>
              <a:spcBef>
                <a:spcPts val="1000"/>
              </a:spcBef>
              <a:spcAft>
                <a:spcPts val="800"/>
              </a:spcAft>
            </a:pPr>
            <a:endParaRPr lang="en-US" dirty="0"/>
          </a:p>
          <a:p>
            <a:pPr marL="457200" lvl="1" indent="-457200">
              <a:lnSpc>
                <a:spcPct val="110000"/>
              </a:lnSpc>
              <a:spcBef>
                <a:spcPts val="1000"/>
              </a:spcBef>
              <a:spcAft>
                <a:spcPts val="800"/>
              </a:spcAft>
            </a:pPr>
            <a:endParaRPr lang="en-US" dirty="0"/>
          </a:p>
          <a:p>
            <a:pPr marL="457200" lvl="1" indent="-457200">
              <a:lnSpc>
                <a:spcPct val="110000"/>
              </a:lnSpc>
              <a:spcBef>
                <a:spcPts val="1000"/>
              </a:spcBef>
              <a:spcAft>
                <a:spcPts val="800"/>
              </a:spcAft>
            </a:pPr>
            <a:endParaRPr lang="en-US" dirty="0"/>
          </a:p>
        </p:txBody>
      </p:sp>
    </p:spTree>
    <p:custDataLst>
      <p:tags r:id="rId1"/>
    </p:custDataLst>
    <p:extLst>
      <p:ext uri="{BB962C8B-B14F-4D97-AF65-F5344CB8AC3E}">
        <p14:creationId xmlns:p14="http://schemas.microsoft.com/office/powerpoint/2010/main" val="17235979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38538" y="1440305"/>
            <a:ext cx="11330609" cy="4913308"/>
          </a:xfrm>
        </p:spPr>
        <p:txBody>
          <a:bodyPr>
            <a:normAutofit fontScale="92500" lnSpcReduction="20000"/>
          </a:bodyPr>
          <a:lstStyle/>
          <a:p>
            <a:pPr marL="457200" lvl="1" indent="-457200">
              <a:lnSpc>
                <a:spcPct val="110000"/>
              </a:lnSpc>
              <a:spcBef>
                <a:spcPts val="1000"/>
              </a:spcBef>
              <a:spcAft>
                <a:spcPts val="800"/>
              </a:spcAft>
            </a:pPr>
            <a:r>
              <a:rPr lang="en-US" sz="2800" dirty="0"/>
              <a:t>Cloud computing is the on-demand delivery of IT resources online with pay-as-you-go pricing. </a:t>
            </a:r>
          </a:p>
          <a:p>
            <a:pPr marL="457200" lvl="1" indent="-457200">
              <a:lnSpc>
                <a:spcPct val="110000"/>
              </a:lnSpc>
              <a:spcBef>
                <a:spcPts val="1000"/>
              </a:spcBef>
              <a:spcAft>
                <a:spcPts val="800"/>
              </a:spcAft>
            </a:pPr>
            <a:r>
              <a:rPr lang="en-US" sz="2800" dirty="0"/>
              <a:t>Three models of cloud computing are:</a:t>
            </a:r>
          </a:p>
          <a:p>
            <a:pPr marL="914400" lvl="2" indent="-457200">
              <a:lnSpc>
                <a:spcPct val="110000"/>
              </a:lnSpc>
              <a:spcBef>
                <a:spcPts val="1000"/>
              </a:spcBef>
              <a:spcAft>
                <a:spcPts val="800"/>
              </a:spcAft>
            </a:pPr>
            <a:r>
              <a:rPr lang="en-US" sz="2400" dirty="0"/>
              <a:t>Infrastructure as a Service (IaaS)</a:t>
            </a:r>
          </a:p>
          <a:p>
            <a:pPr marL="914400" lvl="2" indent="-457200">
              <a:lnSpc>
                <a:spcPct val="110000"/>
              </a:lnSpc>
              <a:spcBef>
                <a:spcPts val="1000"/>
              </a:spcBef>
              <a:spcAft>
                <a:spcPts val="800"/>
              </a:spcAft>
            </a:pPr>
            <a:r>
              <a:rPr lang="en-US" sz="2400" dirty="0"/>
              <a:t>Platform as a Service (PaaS)</a:t>
            </a:r>
          </a:p>
          <a:p>
            <a:pPr marL="914400" lvl="2" indent="-457200">
              <a:lnSpc>
                <a:spcPct val="110000"/>
              </a:lnSpc>
              <a:spcBef>
                <a:spcPts val="1000"/>
              </a:spcBef>
              <a:spcAft>
                <a:spcPts val="800"/>
              </a:spcAft>
            </a:pPr>
            <a:r>
              <a:rPr lang="en-US" sz="2400" dirty="0"/>
              <a:t>Software as a Service (SaaS)</a:t>
            </a:r>
          </a:p>
          <a:p>
            <a:pPr marL="457200" lvl="1" indent="-457200">
              <a:lnSpc>
                <a:spcPct val="110000"/>
              </a:lnSpc>
              <a:spcBef>
                <a:spcPts val="1000"/>
              </a:spcBef>
              <a:spcAft>
                <a:spcPts val="800"/>
              </a:spcAft>
            </a:pPr>
            <a:r>
              <a:rPr lang="en-US" sz="2800" dirty="0"/>
              <a:t>All-in cloud, hybrid, and private cloud are three cloud deployment models.</a:t>
            </a:r>
          </a:p>
          <a:p>
            <a:pPr marL="457200" lvl="1" indent="-457200">
              <a:lnSpc>
                <a:spcPct val="110000"/>
              </a:lnSpc>
              <a:spcBef>
                <a:spcPts val="1000"/>
              </a:spcBef>
              <a:spcAft>
                <a:spcPts val="800"/>
              </a:spcAft>
            </a:pPr>
            <a:r>
              <a:rPr lang="en-US" sz="2800" dirty="0"/>
              <a:t>Cloud services are available to replace traditional on-premises computing activities.</a:t>
            </a:r>
          </a:p>
          <a:p>
            <a:pPr marL="457200" lvl="1" indent="-457200">
              <a:lnSpc>
                <a:spcPct val="110000"/>
              </a:lnSpc>
              <a:spcBef>
                <a:spcPts val="1000"/>
              </a:spcBef>
              <a:spcAft>
                <a:spcPts val="800"/>
              </a:spcAft>
            </a:pPr>
            <a:endParaRPr lang="en-US" sz="2800" dirty="0"/>
          </a:p>
          <a:p>
            <a:pPr marL="457200" lvl="1" indent="-457200">
              <a:lnSpc>
                <a:spcPct val="110000"/>
              </a:lnSpc>
              <a:spcBef>
                <a:spcPts val="1000"/>
              </a:spcBef>
              <a:spcAft>
                <a:spcPts val="800"/>
              </a:spcAft>
            </a:pPr>
            <a:endParaRPr lang="en-US" sz="2800" dirty="0"/>
          </a:p>
          <a:p>
            <a:pPr marL="457200" lvl="1" indent="-457200">
              <a:lnSpc>
                <a:spcPct val="110000"/>
              </a:lnSpc>
              <a:spcBef>
                <a:spcPts val="1000"/>
              </a:spcBef>
              <a:spcAft>
                <a:spcPts val="800"/>
              </a:spcAft>
            </a:pPr>
            <a:endParaRPr lang="en-US" sz="2800" dirty="0"/>
          </a:p>
        </p:txBody>
      </p:sp>
    </p:spTree>
    <p:custDataLst>
      <p:tags r:id="rId1"/>
    </p:custDataLst>
    <p:extLst>
      <p:ext uri="{BB962C8B-B14F-4D97-AF65-F5344CB8AC3E}">
        <p14:creationId xmlns:p14="http://schemas.microsoft.com/office/powerpoint/2010/main" val="1864769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30114</TotalTime>
  <Words>8676</Words>
  <Application>Microsoft Office PowerPoint</Application>
  <PresentationFormat>Widescreen</PresentationFormat>
  <Paragraphs>354</Paragraphs>
  <Slides>39</Slides>
  <Notes>36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6" baseType="lpstr">
      <vt:lpstr>Amazon Ember</vt:lpstr>
      <vt:lpstr>Amazon Ember Light</vt:lpstr>
      <vt:lpstr>Arial</vt:lpstr>
      <vt:lpstr>Calibri</vt:lpstr>
      <vt:lpstr>Helvetica Neue LT Std 65 Medium</vt:lpstr>
      <vt:lpstr>Office Theme</vt:lpstr>
      <vt:lpstr>Image</vt:lpstr>
      <vt:lpstr>Module 1, Section 1: Cloud Concepts Overview</vt:lpstr>
      <vt:lpstr>Module Objectives</vt:lpstr>
      <vt:lpstr>Part 1: What is Cloud Computing?</vt:lpstr>
      <vt:lpstr>What is Cloud Computing? </vt:lpstr>
      <vt:lpstr>What is Cloud Computing? </vt:lpstr>
      <vt:lpstr>Before Cloud Computing</vt:lpstr>
      <vt:lpstr>Before Cloud Computing </vt:lpstr>
      <vt:lpstr>Utilizing Cloud Computing</vt:lpstr>
      <vt:lpstr>Part : What are Models of Cloud Computing?</vt:lpstr>
      <vt:lpstr>Models of Cloud Computing</vt:lpstr>
      <vt:lpstr>Three Models of Cloud Computing</vt:lpstr>
      <vt:lpstr>Models of Cloud Computing</vt:lpstr>
      <vt:lpstr>Three Cloud Deployment Models</vt:lpstr>
      <vt:lpstr>Cloud Deployment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3: What is Multi-Cloud?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All-In Cloud versus On-Premises</vt:lpstr>
      <vt:lpstr>What can you do in the cloud?</vt:lpstr>
      <vt:lpstr>Part 4: Important Cloud Terminology</vt:lpstr>
      <vt:lpstr>Important Cloud Terminology</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rayyan</dc:creator>
  <cp:keywords>1.0.18</cp:keywords>
  <dc:description/>
  <cp:lastModifiedBy>Mirza Rayyan</cp:lastModifiedBy>
  <cp:revision>329</cp:revision>
  <cp:lastPrinted>2017-08-03T20:30:13Z</cp:lastPrinted>
  <dcterms:created xsi:type="dcterms:W3CDTF">2017-05-11T23:06:57Z</dcterms:created>
  <dcterms:modified xsi:type="dcterms:W3CDTF">2025-05-12T09:33:00Z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DCB1EA58-B4D5-4C4E-ADDB-E2B1CD46303F</vt:lpwstr>
  </property>
  <property fmtid="{D5CDD505-2E9C-101B-9397-08002B2CF9AE}" pid="3" name="ArticulatePath">
    <vt:lpwstr>11P-What is Cloud Computing</vt:lpwstr>
  </property>
</Properties>
</file>